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69" r:id="rId4"/>
    <p:sldId id="273" r:id="rId5"/>
    <p:sldId id="279" r:id="rId6"/>
    <p:sldId id="280" r:id="rId7"/>
    <p:sldId id="276" r:id="rId8"/>
    <p:sldId id="283" r:id="rId9"/>
    <p:sldId id="282" r:id="rId10"/>
    <p:sldId id="285" r:id="rId11"/>
    <p:sldId id="275" r:id="rId12"/>
    <p:sldId id="278" r:id="rId13"/>
    <p:sldId id="270" r:id="rId14"/>
    <p:sldId id="265" r:id="rId15"/>
    <p:sldId id="281"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72" autoAdjust="0"/>
    <p:restoredTop sz="94660"/>
  </p:normalViewPr>
  <p:slideViewPr>
    <p:cSldViewPr snapToGrid="0">
      <p:cViewPr varScale="1">
        <p:scale>
          <a:sx n="92" d="100"/>
          <a:sy n="92" d="100"/>
        </p:scale>
        <p:origin x="91"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62764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2BE45-49D7-D6CE-FC98-8746552BCC89}"/>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71D60D4-7EFD-BC7A-4778-4620C7735F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BF02289-E53A-C33E-6EC9-3FF20A47BD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3319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D08D6D8-F0C1-28C4-FF6D-397EA62E527E}"/>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346D198C-F80D-F12E-3E44-5689E750A5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A07A2EB-8D5A-2B6E-FC2A-8DD869E4F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933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B43C8A59-D084-F4DE-2925-3D8332EE0CB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60818CC0-BD7C-26B4-BA23-D94BBA45EE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D324E332-F6C2-06EA-304B-657FD60936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11922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AA38FE7-E466-1E45-5CC3-0F51404056E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B582080-A5EF-07AF-6008-80AB506AE3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CF04F37-A30F-6DB8-7654-D870694124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54035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567BC40-D7D7-5A78-0F38-7002E2965AF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A6AA727-F4C8-A0CB-9E55-0C1F75EDB2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499FAD-0544-65A6-4AEF-6C8FCCC3BF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84982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A84F643-4057-5BCD-0C8F-912F95328A20}"/>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263B7292-C98C-FC16-2027-031AB66F9D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DDD76BD0-5A61-EACD-723B-9D57A34331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66073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vishnu090705/Disaster-awareness-Response-portal-"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ndma.gov.in/" TargetMode="External"/><Relationship Id="rId7" Type="http://schemas.openxmlformats.org/officeDocument/2006/relationships/hyperlink" Target="https://www.unicef.org/disaster-risk-reductio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ndrf.gov.in/" TargetMode="External"/><Relationship Id="rId5" Type="http://schemas.openxmlformats.org/officeDocument/2006/relationships/hyperlink" Target="https://www.ready.gov/" TargetMode="External"/><Relationship Id="rId4" Type="http://schemas.openxmlformats.org/officeDocument/2006/relationships/hyperlink" Target="https://www.undrr.or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who.int/health-topics/emergencie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ifrc.org/" TargetMode="External"/><Relationship Id="rId5" Type="http://schemas.openxmlformats.org/officeDocument/2006/relationships/hyperlink" Target="https://www.fema.gov/" TargetMode="External"/><Relationship Id="rId4" Type="http://schemas.openxmlformats.org/officeDocument/2006/relationships/hyperlink" Target="https://www.adpc.ne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Times New Roman" panose="02020603050405020304" pitchFamily="18" charset="0"/>
                <a:cs typeface="Times New Roman" panose="02020603050405020304" pitchFamily="18" charset="0"/>
              </a:rPr>
              <a:t>Disaster preparedness and Response Education System for Schools and Colleges. (Disaster Awareness Portal)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Dr. Pamela Vinitha Eric</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a:t>
            </a: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Professor </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endPar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22611188"/>
              </p:ext>
            </p:extLst>
          </p:nvPr>
        </p:nvGraphicFramePr>
        <p:xfrm>
          <a:off x="612875" y="2448290"/>
          <a:ext cx="5158459" cy="1812059"/>
        </p:xfrm>
        <a:graphic>
          <a:graphicData uri="http://schemas.openxmlformats.org/drawingml/2006/table">
            <a:tbl>
              <a:tblPr firstRow="1" bandRow="1">
                <a:noFill/>
                <a:tableStyleId>{57690726-49DA-4552-BDEB-330DD8EA8BD9}</a:tableStyleId>
              </a:tblPr>
              <a:tblGrid>
                <a:gridCol w="2239014">
                  <a:extLst>
                    <a:ext uri="{9D8B030D-6E8A-4147-A177-3AD203B41FA5}">
                      <a16:colId xmlns:a16="http://schemas.microsoft.com/office/drawing/2014/main" val="20000"/>
                    </a:ext>
                  </a:extLst>
                </a:gridCol>
                <a:gridCol w="2919445">
                  <a:extLst>
                    <a:ext uri="{9D8B030D-6E8A-4147-A177-3AD203B41FA5}">
                      <a16:colId xmlns:a16="http://schemas.microsoft.com/office/drawing/2014/main" val="20001"/>
                    </a:ext>
                  </a:extLst>
                </a:gridCol>
              </a:tblGrid>
              <a:tr h="444403">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440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mj-lt"/>
                        <a:buNone/>
                        <a:tabLst/>
                        <a:defRPr/>
                      </a:pPr>
                      <a:r>
                        <a:rPr lang="en-US" sz="1800" b="0" strike="noStrike" spc="-1" dirty="0">
                          <a:solidFill>
                            <a:srgbClr val="000000"/>
                          </a:solidFill>
                          <a:latin typeface="+mn-lt"/>
                          <a:ea typeface="Arial"/>
                        </a:rPr>
                        <a:t>20221CSE0090</a:t>
                      </a:r>
                      <a:endParaRPr lang="en-US" sz="1800" b="0" strike="noStrike" spc="-1"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kern="1200" cap="none" baseline="0" dirty="0">
                          <a:solidFill>
                            <a:schemeClr val="tx1"/>
                          </a:solidFill>
                          <a:latin typeface="+mn-lt"/>
                          <a:ea typeface="Bookman Old Style"/>
                          <a:cs typeface="Bookman Old Style"/>
                          <a:sym typeface="Arial"/>
                        </a:rPr>
                        <a:t>P</a:t>
                      </a:r>
                      <a:r>
                        <a:rPr lang="en-IN" sz="1800" b="0" i="0" u="none" strike="noStrike" kern="1200" cap="none" baseline="0" dirty="0">
                          <a:solidFill>
                            <a:schemeClr val="tx1"/>
                          </a:solidFill>
                          <a:latin typeface="+mn-lt"/>
                          <a:ea typeface="Bookman Old Style"/>
                          <a:cs typeface="Bookman Old Style"/>
                          <a:sym typeface="Arial"/>
                        </a:rPr>
                        <a:t> Vishnu Vardhan</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4403">
                <a:tc>
                  <a:txBody>
                    <a:bodyPr/>
                    <a:lstStyle/>
                    <a:p>
                      <a:pPr marL="0" marR="0" lvl="0" indent="0" algn="ctr" rtl="0">
                        <a:spcBef>
                          <a:spcPts val="0"/>
                        </a:spcBef>
                        <a:spcAft>
                          <a:spcPts val="0"/>
                        </a:spcAft>
                        <a:buNone/>
                      </a:pPr>
                      <a:r>
                        <a:rPr lang="en-IN" sz="1800" dirty="0">
                          <a:latin typeface="+mn-lt"/>
                        </a:rPr>
                        <a:t> 20221CSE0195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S</a:t>
                      </a:r>
                      <a:r>
                        <a:rPr lang="en-IN" sz="1800" u="none" strike="noStrike" cap="none" dirty="0">
                          <a:latin typeface="+mn-lt"/>
                        </a:rPr>
                        <a:t> Vasista</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8850">
                <a:tc>
                  <a:txBody>
                    <a:bodyPr/>
                    <a:lstStyle/>
                    <a:p>
                      <a:pPr marL="0" marR="0" lvl="0" indent="0" algn="ctr" rtl="0">
                        <a:spcBef>
                          <a:spcPts val="0"/>
                        </a:spcBef>
                        <a:spcAft>
                          <a:spcPts val="0"/>
                        </a:spcAft>
                        <a:buNone/>
                      </a:pPr>
                      <a:r>
                        <a:rPr lang="en-IN" sz="1800" dirty="0">
                          <a:latin typeface="+mn-lt"/>
                        </a:rPr>
                        <a:t>20221CSE0225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A</a:t>
                      </a:r>
                      <a:r>
                        <a:rPr lang="en-IN" sz="1800" u="none" strike="noStrike" cap="none" dirty="0">
                          <a:latin typeface="+mn-lt"/>
                        </a:rPr>
                        <a:t> Dhanush</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42213"/>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spc="-1" dirty="0">
                <a:latin typeface="Cambria"/>
                <a:ea typeface="Cambria"/>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spc="-1" dirty="0">
                <a:latin typeface="Cambria"/>
                <a:ea typeface="Cambria"/>
              </a:rPr>
              <a:t>Dr. Blessed Prince</a:t>
            </a:r>
            <a:endParaRPr lang="en-US" sz="1800" spc="-1" dirty="0"/>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600" b="1" dirty="0"/>
              <a:t>Dr. Muthuraj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25895"/>
            <a:ext cx="10668000" cy="4870578"/>
          </a:xfrm>
          <a:prstGeom prst="rect">
            <a:avLst/>
          </a:prstGeom>
          <a:noFill/>
          <a:ln>
            <a:noFill/>
          </a:ln>
        </p:spPr>
        <p:txBody>
          <a:bodyPr spcFirstLastPara="1" wrap="square" lIns="91425" tIns="45700" rIns="91425" bIns="45700" anchor="t" anchorCtr="0">
            <a:normAutofit fontScale="85000" lnSpcReduction="20000"/>
          </a:bodyPr>
          <a:lstStyle/>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Existing Methods / Drawbacks of existing methods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Modules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Algorithms Details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Category : </a:t>
            </a:r>
            <a:r>
              <a:rPr lang="en-US" sz="20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Organization : </a:t>
            </a:r>
            <a:r>
              <a:rPr lang="en-US" sz="2000" dirty="0">
                <a:latin typeface="Times New Roman" panose="02020603050405020304" pitchFamily="18" charset="0"/>
                <a:ea typeface="Cambria" panose="02040503050406030204" pitchFamily="18" charset="0"/>
                <a:cs typeface="Times New Roman" panose="02020603050405020304" pitchFamily="18" charset="0"/>
              </a:rPr>
              <a:t>Educational Institutes (Schools &amp; Colleges)   </a:t>
            </a:r>
          </a:p>
          <a:p>
            <a:pPr marL="76200" indent="0" algn="just">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 Abstract : </a:t>
            </a:r>
          </a:p>
          <a:p>
            <a:pPr marL="76200" indent="0" algn="just">
              <a:buNone/>
            </a:pPr>
            <a:r>
              <a:rPr lang="en-US" sz="2000" dirty="0">
                <a:latin typeface="Times New Roman" panose="02020603050405020304" pitchFamily="18" charset="0"/>
                <a:cs typeface="Times New Roman" panose="02020603050405020304" pitchFamily="18" charset="0"/>
              </a:rPr>
              <a:t>The Disaster Awareness Web Application is an interactive platform designed to educate students and the general public about disaster preparedness and safety measures. The website provides structured information about actions to take before, during, and after disasters such as earthquakes, floods, and fires and etc.</a:t>
            </a:r>
          </a:p>
          <a:p>
            <a:pPr marL="76200" indent="0" algn="just">
              <a:buNone/>
            </a:pPr>
            <a:r>
              <a:rPr lang="en-US" sz="2000" dirty="0">
                <a:latin typeface="Times New Roman" panose="02020603050405020304" pitchFamily="18" charset="0"/>
                <a:cs typeface="Times New Roman" panose="02020603050405020304" pitchFamily="18" charset="0"/>
              </a:rPr>
              <a:t>The system includes interactive learning features like quizzes to test users’ knowledge and an AI-powered chatbot that answers disaster-related questions in real time. The platform is built using modern web technologies including React.js for the frontend and Node.js with Express for the backend, ensuring a responsive and user-friendly interface.</a:t>
            </a:r>
          </a:p>
          <a:p>
            <a:pPr marL="76200" indent="0" algn="just">
              <a:buNone/>
            </a:pPr>
            <a:r>
              <a:rPr lang="en-US" sz="2000" dirty="0">
                <a:latin typeface="Times New Roman" panose="02020603050405020304" pitchFamily="18" charset="0"/>
                <a:cs typeface="Times New Roman" panose="02020603050405020304" pitchFamily="18" charset="0"/>
              </a:rPr>
              <a:t>The main goal of this project is to increase disaster awareness, improve preparedness, and provide quick guidance during emergency situations through an engaging digital learning experience.</a:t>
            </a:r>
          </a:p>
          <a:p>
            <a:pPr marL="342900" lvl="0" indent="-190500" algn="just">
              <a:spcBef>
                <a:spcPts val="0"/>
              </a:spcBef>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82556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br>
              <a:rPr lang="en-US" dirty="0">
                <a:latin typeface="Times New Roman" panose="02020603050405020304" pitchFamily="18" charset="0"/>
                <a:ea typeface="Cambria" panose="02040503050406030204" pitchFamily="18" charset="0"/>
                <a:cs typeface="Times New Roman" panose="02020603050405020304" pitchFamily="18" charset="0"/>
              </a:rPr>
            </a:br>
            <a:r>
              <a:rPr lang="en-US" dirty="0">
                <a:latin typeface="Times New Roman" panose="02020603050405020304" pitchFamily="18" charset="0"/>
                <a:ea typeface="Cambria" panose="02040503050406030204" pitchFamily="18" charset="0"/>
                <a:cs typeface="Times New Roman" panose="02020603050405020304" pitchFamily="18" charset="0"/>
              </a:rPr>
              <a:t>Objectives</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230086"/>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US" sz="2000" b="1"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To develop a digital platform for </a:t>
            </a:r>
            <a:r>
              <a:rPr lang="en-US" sz="2000" b="1" dirty="0">
                <a:latin typeface="Times New Roman" panose="02020603050405020304" pitchFamily="18" charset="0"/>
                <a:cs typeface="Times New Roman" panose="02020603050405020304" pitchFamily="18" charset="0"/>
              </a:rPr>
              <a:t>disaster preparedness and response education</a:t>
            </a:r>
            <a:r>
              <a:rPr lang="en-US" sz="2000" dirty="0">
                <a:latin typeface="Times New Roman" panose="02020603050405020304" pitchFamily="18" charset="0"/>
                <a:cs typeface="Times New Roman" panose="02020603050405020304" pitchFamily="18" charset="0"/>
              </a:rPr>
              <a:t> for school and college students.</a:t>
            </a:r>
          </a:p>
          <a:p>
            <a:pPr algn="just"/>
            <a:r>
              <a:rPr lang="en-US" sz="2000" dirty="0">
                <a:latin typeface="Times New Roman" panose="02020603050405020304" pitchFamily="18" charset="0"/>
                <a:cs typeface="Times New Roman" panose="02020603050405020304" pitchFamily="18" charset="0"/>
              </a:rPr>
              <a:t>To educate students on </a:t>
            </a:r>
            <a:r>
              <a:rPr lang="en-US" sz="2000" b="1" dirty="0">
                <a:latin typeface="Times New Roman" panose="02020603050405020304" pitchFamily="18" charset="0"/>
                <a:cs typeface="Times New Roman" panose="02020603050405020304" pitchFamily="18" charset="0"/>
              </a:rPr>
              <a:t>safety measures before, during, and after disasters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provide </a:t>
            </a:r>
            <a:r>
              <a:rPr lang="en-US" sz="2000" b="1" dirty="0">
                <a:latin typeface="Times New Roman" panose="02020603050405020304" pitchFamily="18" charset="0"/>
                <a:cs typeface="Times New Roman" panose="02020603050405020304" pitchFamily="18" charset="0"/>
              </a:rPr>
              <a:t>interactive learning modules and quizzes</a:t>
            </a:r>
            <a:r>
              <a:rPr lang="en-US" sz="2000" dirty="0">
                <a:latin typeface="Times New Roman" panose="02020603050405020304" pitchFamily="18" charset="0"/>
                <a:cs typeface="Times New Roman" panose="02020603050405020304" pitchFamily="18" charset="0"/>
              </a:rPr>
              <a:t> for better understanding and retention.</a:t>
            </a:r>
          </a:p>
          <a:p>
            <a:pPr algn="just"/>
            <a:r>
              <a:rPr lang="en-US" sz="2000" dirty="0">
                <a:latin typeface="Times New Roman" panose="02020603050405020304" pitchFamily="18" charset="0"/>
                <a:cs typeface="Times New Roman" panose="02020603050405020304" pitchFamily="18" charset="0"/>
              </a:rPr>
              <a:t>To improve student awareness through </a:t>
            </a:r>
            <a:r>
              <a:rPr lang="en-US" sz="2000" b="1" dirty="0">
                <a:latin typeface="Times New Roman" panose="02020603050405020304" pitchFamily="18" charset="0"/>
                <a:cs typeface="Times New Roman" panose="02020603050405020304" pitchFamily="18" charset="0"/>
              </a:rPr>
              <a:t>preparedness checklists and scenario-based learning</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enable </a:t>
            </a:r>
            <a:r>
              <a:rPr lang="en-US" sz="2000" b="1" dirty="0">
                <a:latin typeface="Times New Roman" panose="02020603050405020304" pitchFamily="18" charset="0"/>
                <a:cs typeface="Times New Roman" panose="02020603050405020304" pitchFamily="18" charset="0"/>
              </a:rPr>
              <a:t>easy access to disaster safety information</a:t>
            </a:r>
            <a:r>
              <a:rPr lang="en-US" sz="2000" dirty="0">
                <a:latin typeface="Times New Roman" panose="02020603050405020304" pitchFamily="18" charset="0"/>
                <a:cs typeface="Times New Roman" panose="02020603050405020304" pitchFamily="18" charset="0"/>
              </a:rPr>
              <a:t> through a user-friendly interface.</a:t>
            </a:r>
          </a:p>
          <a:p>
            <a:pPr algn="just"/>
            <a:r>
              <a:rPr lang="en-US" sz="2000" dirty="0">
                <a:latin typeface="Times New Roman" panose="02020603050405020304" pitchFamily="18" charset="0"/>
                <a:cs typeface="Times New Roman" panose="02020603050405020304" pitchFamily="18" charset="0"/>
              </a:rPr>
              <a:t>To enhance overall </a:t>
            </a:r>
            <a:r>
              <a:rPr lang="en-US" sz="2000" b="1" dirty="0">
                <a:latin typeface="Times New Roman" panose="02020603050405020304" pitchFamily="18" charset="0"/>
                <a:cs typeface="Times New Roman" panose="02020603050405020304" pitchFamily="18" charset="0"/>
              </a:rPr>
              <a:t>disaster readiness and response capability</a:t>
            </a:r>
            <a:r>
              <a:rPr lang="en-US" sz="2000" dirty="0">
                <a:latin typeface="Times New Roman" panose="02020603050405020304" pitchFamily="18" charset="0"/>
                <a:cs typeface="Times New Roman" panose="02020603050405020304" pitchFamily="18" charset="0"/>
              </a:rPr>
              <a:t> among students.</a:t>
            </a:r>
          </a:p>
          <a:p>
            <a:pPr marL="76200" indent="0" algn="just">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F10F-19E2-98BE-9527-D3722187BB8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Existing &amp; Drawbacks of existing Methods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7DB912D-5202-3C21-5FE8-4D85CC1FC789}"/>
              </a:ext>
            </a:extLst>
          </p:cNvPr>
          <p:cNvSpPr>
            <a:spLocks noGrp="1"/>
          </p:cNvSpPr>
          <p:nvPr>
            <p:ph type="body" idx="1"/>
          </p:nvPr>
        </p:nvSpPr>
        <p:spPr/>
        <p:txBody>
          <a:bodyPr>
            <a:normAutofit/>
          </a:bodyPr>
          <a:lstStyle/>
          <a:p>
            <a:pPr marL="342900" lvl="0" indent="-190500" algn="just">
              <a:spcBef>
                <a:spcPts val="0"/>
              </a:spcBef>
              <a:buSzPct val="100000"/>
              <a:buNone/>
            </a:pPr>
            <a:r>
              <a:rPr lang="en-IN" sz="2000" b="1" dirty="0">
                <a:latin typeface="Times New Roman" panose="02020603050405020304" pitchFamily="18" charset="0"/>
                <a:cs typeface="Times New Roman" panose="02020603050405020304" pitchFamily="18" charset="0"/>
              </a:rPr>
              <a:t>Existing Methods :</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Disaster information is mainly provided through </a:t>
            </a:r>
            <a:r>
              <a:rPr lang="en-US" sz="2000" b="1" dirty="0">
                <a:latin typeface="Times New Roman" panose="02020603050405020304" pitchFamily="18" charset="0"/>
                <a:cs typeface="Times New Roman" panose="02020603050405020304" pitchFamily="18" charset="0"/>
              </a:rPr>
              <a:t>government websites, PDFs, manuals, and notices</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Awareness is created through </a:t>
            </a:r>
            <a:r>
              <a:rPr lang="en-US" sz="2000" b="1" dirty="0">
                <a:latin typeface="Times New Roman" panose="02020603050405020304" pitchFamily="18" charset="0"/>
                <a:cs typeface="Times New Roman" panose="02020603050405020304" pitchFamily="18" charset="0"/>
              </a:rPr>
              <a:t>occasional workshops, drills, or seminars</a:t>
            </a:r>
            <a:r>
              <a:rPr lang="en-US" sz="2000" dirty="0">
                <a:latin typeface="Times New Roman" panose="02020603050405020304" pitchFamily="18" charset="0"/>
                <a:cs typeface="Times New Roman" panose="02020603050405020304" pitchFamily="18" charset="0"/>
              </a:rPr>
              <a:t> in schools and colleges.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mostly </a:t>
            </a:r>
            <a:r>
              <a:rPr lang="en-US" sz="2000" b="1" dirty="0">
                <a:latin typeface="Times New Roman" panose="02020603050405020304" pitchFamily="18" charset="0"/>
                <a:cs typeface="Times New Roman" panose="02020603050405020304" pitchFamily="18" charset="0"/>
              </a:rPr>
              <a:t>text-based and theoretical</a:t>
            </a:r>
            <a:r>
              <a:rPr lang="en-US" sz="2000" dirty="0">
                <a:latin typeface="Times New Roman" panose="02020603050405020304" pitchFamily="18" charset="0"/>
                <a:cs typeface="Times New Roman" panose="02020603050405020304" pitchFamily="18" charset="0"/>
              </a:rPr>
              <a:t> in nature.</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Training programs are usually </a:t>
            </a:r>
            <a:r>
              <a:rPr lang="en-US" sz="2000" b="1" dirty="0">
                <a:latin typeface="Times New Roman" panose="02020603050405020304" pitchFamily="18" charset="0"/>
                <a:cs typeface="Times New Roman" panose="02020603050405020304" pitchFamily="18" charset="0"/>
              </a:rPr>
              <a:t>one-time and not continuous</a:t>
            </a:r>
            <a:r>
              <a:rPr lang="en-US" sz="2000" dirty="0">
                <a:latin typeface="Times New Roman" panose="02020603050405020304" pitchFamily="18" charset="0"/>
                <a:cs typeface="Times New Roman" panose="02020603050405020304" pitchFamily="18" charset="0"/>
              </a:rPr>
              <a:t>.</a:t>
            </a: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Drawbacks of Existing Methods: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Limited accessibility and </a:t>
            </a:r>
            <a:r>
              <a:rPr lang="en-US" sz="2000" b="1" dirty="0">
                <a:latin typeface="Times New Roman" panose="02020603050405020304" pitchFamily="18" charset="0"/>
                <a:cs typeface="Times New Roman" panose="02020603050405020304" pitchFamily="18" charset="0"/>
              </a:rPr>
              <a:t>low student participation</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Lack of </a:t>
            </a:r>
            <a:r>
              <a:rPr lang="en-US" sz="2000" b="1" dirty="0">
                <a:latin typeface="Times New Roman" panose="02020603050405020304" pitchFamily="18" charset="0"/>
                <a:cs typeface="Times New Roman" panose="02020603050405020304" pitchFamily="18" charset="0"/>
              </a:rPr>
              <a:t>practice-oriented learning</a:t>
            </a:r>
            <a:r>
              <a:rPr lang="en-US" sz="2000" dirty="0">
                <a:latin typeface="Times New Roman" panose="02020603050405020304" pitchFamily="18" charset="0"/>
                <a:cs typeface="Times New Roman" panose="02020603050405020304" pitchFamily="18" charset="0"/>
              </a:rPr>
              <a:t> such as quizzes or simulations.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No system to </a:t>
            </a:r>
            <a:r>
              <a:rPr lang="en-US" sz="2000" b="1" dirty="0">
                <a:latin typeface="Times New Roman" panose="02020603050405020304" pitchFamily="18" charset="0"/>
                <a:cs typeface="Times New Roman" panose="02020603050405020304" pitchFamily="18" charset="0"/>
              </a:rPr>
              <a:t>track learning progress or preparedness level</a:t>
            </a:r>
            <a:r>
              <a:rPr lang="en-US" sz="2000" dirty="0">
                <a:latin typeface="Times New Roman" panose="02020603050405020304" pitchFamily="18" charset="0"/>
                <a:cs typeface="Times New Roman" panose="02020603050405020304" pitchFamily="18" charset="0"/>
              </a:rPr>
              <a:t> of students.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often </a:t>
            </a:r>
            <a:r>
              <a:rPr lang="en-US" sz="2000" b="1" dirty="0">
                <a:latin typeface="Times New Roman" panose="02020603050405020304" pitchFamily="18" charset="0"/>
                <a:cs typeface="Times New Roman" panose="02020603050405020304" pitchFamily="18" charset="0"/>
              </a:rPr>
              <a:t>complex and hard to understand</a:t>
            </a:r>
            <a:r>
              <a:rPr lang="en-US" sz="2000" dirty="0">
                <a:latin typeface="Times New Roman" panose="02020603050405020304" pitchFamily="18" charset="0"/>
                <a:cs typeface="Times New Roman" panose="02020603050405020304" pitchFamily="18" charset="0"/>
              </a:rPr>
              <a:t> for students.</a:t>
            </a:r>
            <a:endParaRPr lang="en-IN" sz="2000" b="1"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94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362B-0157-4541-FEAC-A49C4F09420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Architecture Diagram</a:t>
            </a:r>
            <a:endParaRPr lang="en-IN" dirty="0"/>
          </a:p>
        </p:txBody>
      </p:sp>
      <p:sp>
        <p:nvSpPr>
          <p:cNvPr id="3" name="Text Placeholder 2">
            <a:extLst>
              <a:ext uri="{FF2B5EF4-FFF2-40B4-BE49-F238E27FC236}">
                <a16:creationId xmlns:a16="http://schemas.microsoft.com/office/drawing/2014/main" id="{81FA0810-C5E3-1A73-F9BB-86932AD0251D}"/>
              </a:ext>
            </a:extLst>
          </p:cNvPr>
          <p:cNvSpPr>
            <a:spLocks noGrp="1"/>
          </p:cNvSpPr>
          <p:nvPr>
            <p:ph type="body" idx="1"/>
          </p:nvPr>
        </p:nvSpPr>
        <p:spPr/>
        <p:txBody>
          <a:bodyPr/>
          <a:lstStyle/>
          <a:p>
            <a:pPr marL="76200" indent="0">
              <a:buNone/>
            </a:pPr>
            <a:r>
              <a:rPr lang="en-US" dirty="0"/>
              <a:t> </a:t>
            </a:r>
            <a:endParaRPr lang="en-IN" dirty="0"/>
          </a:p>
        </p:txBody>
      </p:sp>
      <p:pic>
        <p:nvPicPr>
          <p:cNvPr id="5" name="Picture 4">
            <a:extLst>
              <a:ext uri="{FF2B5EF4-FFF2-40B4-BE49-F238E27FC236}">
                <a16:creationId xmlns:a16="http://schemas.microsoft.com/office/drawing/2014/main" id="{B43134B9-3909-6840-61C6-F97B14987524}"/>
              </a:ext>
            </a:extLst>
          </p:cNvPr>
          <p:cNvPicPr>
            <a:picLocks noChangeAspect="1"/>
          </p:cNvPicPr>
          <p:nvPr/>
        </p:nvPicPr>
        <p:blipFill>
          <a:blip r:embed="rId2"/>
          <a:stretch>
            <a:fillRect/>
          </a:stretch>
        </p:blipFill>
        <p:spPr>
          <a:xfrm>
            <a:off x="1263535" y="1143001"/>
            <a:ext cx="9975271" cy="4657437"/>
          </a:xfrm>
          <a:prstGeom prst="rect">
            <a:avLst/>
          </a:prstGeom>
        </p:spPr>
      </p:pic>
    </p:spTree>
    <p:extLst>
      <p:ext uri="{BB962C8B-B14F-4D97-AF65-F5344CB8AC3E}">
        <p14:creationId xmlns:p14="http://schemas.microsoft.com/office/powerpoint/2010/main" val="206086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C76D0A1-D23F-7EB1-D5E7-84DED2D4377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A685D4F-442E-2390-F090-13DB7D2AE50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Modules</a:t>
            </a:r>
          </a:p>
        </p:txBody>
      </p:sp>
      <p:sp>
        <p:nvSpPr>
          <p:cNvPr id="115" name="Google Shape;115;p17">
            <a:extLst>
              <a:ext uri="{FF2B5EF4-FFF2-40B4-BE49-F238E27FC236}">
                <a16:creationId xmlns:a16="http://schemas.microsoft.com/office/drawing/2014/main" id="{D94BA9DB-507C-0FDF-6463-CDD34297A2BE}"/>
              </a:ext>
            </a:extLst>
          </p:cNvPr>
          <p:cNvSpPr txBox="1">
            <a:spLocks noGrp="1"/>
          </p:cNvSpPr>
          <p:nvPr>
            <p:ph type="body" idx="1"/>
          </p:nvPr>
        </p:nvSpPr>
        <p:spPr>
          <a:xfrm>
            <a:off x="812800" y="1022464"/>
            <a:ext cx="10668000" cy="5073535"/>
          </a:xfrm>
          <a:prstGeom prst="rect">
            <a:avLst/>
          </a:prstGeom>
          <a:noFill/>
          <a:ln>
            <a:noFill/>
          </a:ln>
        </p:spPr>
        <p:txBody>
          <a:bodyPr spcFirstLastPara="1" wrap="square" lIns="91425" tIns="45700" rIns="91425" bIns="45700" anchor="t" anchorCtr="0">
            <a:normAutofit/>
          </a:bodyPr>
          <a:lstStyle/>
          <a:p>
            <a:pPr marL="76200" indent="0">
              <a:buNone/>
            </a:pPr>
            <a:r>
              <a:rPr lang="en-IN" sz="2000" u="sng" dirty="0">
                <a:latin typeface="Times New Roman" panose="02020603050405020304" pitchFamily="18" charset="0"/>
                <a:cs typeface="Times New Roman" panose="02020603050405020304" pitchFamily="18" charset="0"/>
              </a:rPr>
              <a:t>User Authentication Module:</a:t>
            </a:r>
          </a:p>
          <a:p>
            <a:r>
              <a:rPr lang="en-IN" sz="2000" dirty="0">
                <a:latin typeface="Times New Roman" panose="02020603050405020304" pitchFamily="18" charset="0"/>
                <a:cs typeface="Times New Roman" panose="02020603050405020304" pitchFamily="18" charset="0"/>
              </a:rPr>
              <a:t>Handles user registration (Student), login and logout (Student / Admin / Principal) </a:t>
            </a:r>
          </a:p>
          <a:p>
            <a:r>
              <a:rPr lang="en-IN" sz="2000" dirty="0">
                <a:latin typeface="Times New Roman" panose="02020603050405020304" pitchFamily="18" charset="0"/>
                <a:cs typeface="Times New Roman" panose="02020603050405020304" pitchFamily="18" charset="0"/>
              </a:rPr>
              <a:t>Role-based access control (Student / Admin / Principal) </a:t>
            </a:r>
          </a:p>
          <a:p>
            <a:r>
              <a:rPr lang="en-IN" sz="2000" dirty="0">
                <a:latin typeface="Times New Roman" panose="02020603050405020304" pitchFamily="18" charset="0"/>
                <a:cs typeface="Times New Roman" panose="02020603050405020304" pitchFamily="18" charset="0"/>
              </a:rPr>
              <a:t>Secure password handling (encryption, validation) </a:t>
            </a:r>
          </a:p>
          <a:p>
            <a:pPr marL="76200" indent="0">
              <a:buNone/>
            </a:pPr>
            <a:r>
              <a:rPr lang="en-IN" sz="2000" u="sng" dirty="0">
                <a:latin typeface="Times New Roman" panose="02020603050405020304" pitchFamily="18" charset="0"/>
                <a:cs typeface="Times New Roman" panose="02020603050405020304" pitchFamily="18" charset="0"/>
              </a:rPr>
              <a:t>Disaster Learning Module:</a:t>
            </a:r>
          </a:p>
          <a:p>
            <a:r>
              <a:rPr lang="en-IN" sz="2000" dirty="0">
                <a:latin typeface="Times New Roman" panose="02020603050405020304" pitchFamily="18" charset="0"/>
                <a:cs typeface="Times New Roman" panose="02020603050405020304" pitchFamily="18" charset="0"/>
              </a:rPr>
              <a:t>Provides structured content for disasters (Earthquake, Flood, Fire, Cyclone, etc.) </a:t>
            </a:r>
          </a:p>
          <a:p>
            <a:r>
              <a:rPr lang="en-IN" sz="2000" dirty="0">
                <a:latin typeface="Times New Roman" panose="02020603050405020304" pitchFamily="18" charset="0"/>
                <a:cs typeface="Times New Roman" panose="02020603050405020304" pitchFamily="18" charset="0"/>
              </a:rPr>
              <a:t>Divided into: Before ,During ,After ,Do’s and Don’ts </a:t>
            </a:r>
          </a:p>
          <a:p>
            <a:r>
              <a:rPr lang="en-IN" sz="2000" dirty="0">
                <a:latin typeface="Times New Roman" panose="02020603050405020304" pitchFamily="18" charset="0"/>
                <a:cs typeface="Times New Roman" panose="02020603050405020304" pitchFamily="18" charset="0"/>
              </a:rPr>
              <a:t>Supports text, images, videos</a:t>
            </a:r>
          </a:p>
          <a:p>
            <a:pPr marL="76200" indent="0">
              <a:buNone/>
            </a:pPr>
            <a:r>
              <a:rPr lang="en-US" sz="2000" u="sng" dirty="0">
                <a:latin typeface="Times New Roman" panose="02020603050405020304" pitchFamily="18" charset="0"/>
                <a:cs typeface="Times New Roman" panose="02020603050405020304" pitchFamily="18" charset="0"/>
              </a:rPr>
              <a:t>Quiz &amp; Assessment Module:</a:t>
            </a:r>
          </a:p>
          <a:p>
            <a:r>
              <a:rPr lang="en-US" sz="2000" dirty="0">
                <a:latin typeface="Times New Roman" panose="02020603050405020304" pitchFamily="18" charset="0"/>
                <a:cs typeface="Times New Roman" panose="02020603050405020304" pitchFamily="18" charset="0"/>
              </a:rPr>
              <a:t>Conducts quizzes after each module </a:t>
            </a:r>
          </a:p>
          <a:p>
            <a:r>
              <a:rPr lang="en-US" sz="2000" dirty="0">
                <a:latin typeface="Times New Roman" panose="02020603050405020304" pitchFamily="18" charset="0"/>
                <a:cs typeface="Times New Roman" panose="02020603050405020304" pitchFamily="18" charset="0"/>
              </a:rPr>
              <a:t>Scenario-based and MCQ questions </a:t>
            </a:r>
          </a:p>
          <a:p>
            <a:r>
              <a:rPr lang="en-US" sz="2000" dirty="0">
                <a:latin typeface="Times New Roman" panose="02020603050405020304" pitchFamily="18" charset="0"/>
                <a:cs typeface="Times New Roman" panose="02020603050405020304" pitchFamily="18" charset="0"/>
              </a:rPr>
              <a:t>Auto-evaluation and scoring </a:t>
            </a:r>
          </a:p>
          <a:p>
            <a:r>
              <a:rPr lang="en-US" sz="2000" dirty="0">
                <a:latin typeface="Times New Roman" panose="02020603050405020304" pitchFamily="18" charset="0"/>
                <a:cs typeface="Times New Roman" panose="02020603050405020304" pitchFamily="18" charset="0"/>
              </a:rPr>
              <a:t>Displays results and feedback</a:t>
            </a:r>
          </a:p>
          <a:p>
            <a:pPr marL="76200" indent="0">
              <a:buNone/>
            </a:pPr>
            <a:endParaRPr lang="en-IN"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833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64CE35F-5208-8221-DC85-E31C53DA5A2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D81C993E-B0B9-12C5-4439-AA14B6F1B25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Modules</a:t>
            </a:r>
          </a:p>
        </p:txBody>
      </p:sp>
      <p:sp>
        <p:nvSpPr>
          <p:cNvPr id="115" name="Google Shape;115;p17">
            <a:extLst>
              <a:ext uri="{FF2B5EF4-FFF2-40B4-BE49-F238E27FC236}">
                <a16:creationId xmlns:a16="http://schemas.microsoft.com/office/drawing/2014/main" id="{25ACF2D6-0972-CFED-42D6-BB1CBD389BFA}"/>
              </a:ext>
            </a:extLst>
          </p:cNvPr>
          <p:cNvSpPr txBox="1">
            <a:spLocks noGrp="1"/>
          </p:cNvSpPr>
          <p:nvPr>
            <p:ph type="body" idx="1"/>
          </p:nvPr>
        </p:nvSpPr>
        <p:spPr>
          <a:xfrm>
            <a:off x="812800" y="1022464"/>
            <a:ext cx="10668000" cy="5073535"/>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2000" u="sng" dirty="0">
                <a:latin typeface="Times New Roman" panose="02020603050405020304" pitchFamily="18" charset="0"/>
                <a:cs typeface="Times New Roman" panose="02020603050405020304" pitchFamily="18" charset="0"/>
              </a:rPr>
              <a:t>AI Chatbot Assistance Module:</a:t>
            </a:r>
          </a:p>
          <a:p>
            <a:r>
              <a:rPr lang="en-US" sz="2000" dirty="0">
                <a:latin typeface="Times New Roman" panose="02020603050405020304" pitchFamily="18" charset="0"/>
                <a:cs typeface="Times New Roman" panose="02020603050405020304" pitchFamily="18" charset="0"/>
              </a:rPr>
              <a:t>Provides instant answers to disaster-related queries </a:t>
            </a:r>
          </a:p>
          <a:p>
            <a:r>
              <a:rPr lang="en-US" sz="2000" dirty="0">
                <a:latin typeface="Times New Roman" panose="02020603050405020304" pitchFamily="18" charset="0"/>
                <a:cs typeface="Times New Roman" panose="02020603050405020304" pitchFamily="18" charset="0"/>
              </a:rPr>
              <a:t>Helps users understand safety measures </a:t>
            </a:r>
          </a:p>
          <a:p>
            <a:r>
              <a:rPr lang="en-US" sz="2000" dirty="0">
                <a:latin typeface="Times New Roman" panose="02020603050405020304" pitchFamily="18" charset="0"/>
                <a:cs typeface="Times New Roman" panose="02020603050405020304" pitchFamily="18" charset="0"/>
              </a:rPr>
              <a:t>Acts as a virtual guide during emergencies</a:t>
            </a:r>
          </a:p>
          <a:p>
            <a:pPr marL="76200" indent="0">
              <a:buNone/>
            </a:pPr>
            <a:r>
              <a:rPr lang="en-IN" sz="2000" u="sng" dirty="0">
                <a:latin typeface="Times New Roman" panose="02020603050405020304" pitchFamily="18" charset="0"/>
                <a:ea typeface="Tahoma" panose="020B0604030504040204" pitchFamily="34" charset="0"/>
                <a:cs typeface="Times New Roman" panose="02020603050405020304" pitchFamily="18" charset="0"/>
              </a:rPr>
              <a:t>Admin Management Module:</a:t>
            </a:r>
          </a:p>
          <a:p>
            <a:r>
              <a:rPr lang="en-IN" sz="2000" dirty="0">
                <a:latin typeface="Times New Roman" panose="02020603050405020304" pitchFamily="18" charset="0"/>
                <a:ea typeface="Tahoma" panose="020B0604030504040204" pitchFamily="34" charset="0"/>
                <a:cs typeface="Times New Roman" panose="02020603050405020304" pitchFamily="18" charset="0"/>
              </a:rPr>
              <a:t>Add / update / delete disaster content </a:t>
            </a:r>
          </a:p>
          <a:p>
            <a:r>
              <a:rPr lang="en-IN" sz="2000" dirty="0">
                <a:latin typeface="Times New Roman" panose="02020603050405020304" pitchFamily="18" charset="0"/>
                <a:ea typeface="Tahoma" panose="020B0604030504040204" pitchFamily="34" charset="0"/>
                <a:cs typeface="Times New Roman" panose="02020603050405020304" pitchFamily="18" charset="0"/>
              </a:rPr>
              <a:t>Manage quizzes and questions </a:t>
            </a:r>
          </a:p>
          <a:p>
            <a:r>
              <a:rPr lang="en-IN" sz="2000" dirty="0">
                <a:latin typeface="Times New Roman" panose="02020603050405020304" pitchFamily="18" charset="0"/>
                <a:ea typeface="Tahoma" panose="020B0604030504040204" pitchFamily="34" charset="0"/>
                <a:cs typeface="Times New Roman" panose="02020603050405020304" pitchFamily="18" charset="0"/>
              </a:rPr>
              <a:t>Manage Schools and Principals </a:t>
            </a:r>
          </a:p>
          <a:p>
            <a:r>
              <a:rPr lang="en-IN" sz="2000" dirty="0">
                <a:latin typeface="Times New Roman" panose="02020603050405020304" pitchFamily="18" charset="0"/>
                <a:ea typeface="Tahoma" panose="020B0604030504040204" pitchFamily="34" charset="0"/>
                <a:cs typeface="Times New Roman" panose="02020603050405020304" pitchFamily="18" charset="0"/>
              </a:rPr>
              <a:t>Control system data</a:t>
            </a:r>
          </a:p>
          <a:p>
            <a:pPr marL="76200" indent="0">
              <a:buNone/>
            </a:pPr>
            <a:r>
              <a:rPr lang="en-US" sz="2000" u="sng" dirty="0">
                <a:latin typeface="Times New Roman" panose="02020603050405020304" pitchFamily="18" charset="0"/>
                <a:cs typeface="Times New Roman" panose="02020603050405020304" pitchFamily="18" charset="0"/>
              </a:rPr>
              <a:t>Principal Dashboard Module:</a:t>
            </a:r>
          </a:p>
          <a:p>
            <a:r>
              <a:rPr lang="en-US" sz="2000" dirty="0">
                <a:latin typeface="Times New Roman" panose="02020603050405020304" pitchFamily="18" charset="0"/>
                <a:cs typeface="Times New Roman" panose="02020603050405020304" pitchFamily="18" charset="0"/>
              </a:rPr>
              <a:t>Overview of student participation </a:t>
            </a:r>
          </a:p>
          <a:p>
            <a:r>
              <a:rPr lang="en-US" sz="2000" dirty="0">
                <a:latin typeface="Times New Roman" panose="02020603050405020304" pitchFamily="18" charset="0"/>
                <a:cs typeface="Times New Roman" panose="02020603050405020304" pitchFamily="18" charset="0"/>
              </a:rPr>
              <a:t>View reports and analytics </a:t>
            </a:r>
          </a:p>
          <a:p>
            <a:r>
              <a:rPr lang="en-US" sz="2000" dirty="0">
                <a:latin typeface="Times New Roman" panose="02020603050405020304" pitchFamily="18" charset="0"/>
                <a:cs typeface="Times New Roman" panose="02020603050405020304" pitchFamily="18" charset="0"/>
              </a:rPr>
              <a:t>Monitor engagement and performance </a:t>
            </a:r>
          </a:p>
          <a:p>
            <a:r>
              <a:rPr lang="en-US" sz="2000" dirty="0">
                <a:latin typeface="Times New Roman" panose="02020603050405020304" pitchFamily="18" charset="0"/>
                <a:cs typeface="Times New Roman" panose="02020603050405020304" pitchFamily="18" charset="0"/>
              </a:rPr>
              <a:t>Raises Support </a:t>
            </a:r>
            <a:r>
              <a:rPr lang="en-US" sz="2000" dirty="0" err="1">
                <a:latin typeface="Times New Roman" panose="02020603050405020304" pitchFamily="18" charset="0"/>
                <a:cs typeface="Times New Roman" panose="02020603050405020304" pitchFamily="18" charset="0"/>
              </a:rPr>
              <a:t>Ticekts</a:t>
            </a:r>
            <a:endParaRPr lang="en-US" sz="2000" dirty="0">
              <a:latin typeface="Times New Roman" panose="02020603050405020304" pitchFamily="18" charset="0"/>
              <a:cs typeface="Times New Roman" panose="02020603050405020304" pitchFamily="18" charset="0"/>
            </a:endParaRPr>
          </a:p>
          <a:p>
            <a:pPr marL="76200" indent="0">
              <a:buNone/>
            </a:pPr>
            <a:endParaRPr lang="en-US" sz="2000" dirty="0">
              <a:latin typeface="Times New Roman" panose="02020603050405020304" pitchFamily="18" charset="0"/>
              <a:cs typeface="Times New Roman" panose="02020603050405020304" pitchFamily="18" charset="0"/>
            </a:endParaRPr>
          </a:p>
          <a:p>
            <a:pPr marL="76200" indent="0">
              <a:buNone/>
            </a:pPr>
            <a:endParaRPr lang="en-US" sz="18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2341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9428D7DB-3F1F-55C5-6564-590A328E20E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C792801-B1CA-82D3-B79A-5CC321F66D3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Algorithm Details</a:t>
            </a:r>
          </a:p>
        </p:txBody>
      </p:sp>
      <p:sp>
        <p:nvSpPr>
          <p:cNvPr id="115" name="Google Shape;115;p17">
            <a:extLst>
              <a:ext uri="{FF2B5EF4-FFF2-40B4-BE49-F238E27FC236}">
                <a16:creationId xmlns:a16="http://schemas.microsoft.com/office/drawing/2014/main" id="{1368343D-97F7-DED5-5AC8-0D108440B7C6}"/>
              </a:ext>
            </a:extLst>
          </p:cNvPr>
          <p:cNvSpPr txBox="1">
            <a:spLocks noGrp="1"/>
          </p:cNvSpPr>
          <p:nvPr>
            <p:ph type="body" idx="1"/>
          </p:nvPr>
        </p:nvSpPr>
        <p:spPr>
          <a:xfrm>
            <a:off x="646546" y="762138"/>
            <a:ext cx="10668000" cy="5399314"/>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endParaRPr lang="en-IN" sz="2000" dirty="0">
              <a:solidFill>
                <a:srgbClr val="002060"/>
              </a:solidFill>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1. JWT – Based Authentication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Implement JSON Web Token (JWT) for secure user authentication.</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Generates a token after login which verifies user identity for protected routes without storing session data.</a:t>
            </a:r>
            <a:r>
              <a:rPr lang="en-IN" sz="2000" dirty="0">
                <a:latin typeface="Times New Roman" panose="02020603050405020304" pitchFamily="18" charset="0"/>
                <a:cs typeface="Times New Roman" panose="02020603050405020304" pitchFamily="18" charset="0"/>
              </a:rPr>
              <a:t> </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2. Bcrypt Password hashing </a:t>
            </a:r>
            <a:r>
              <a:rPr lang="en-IN"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Uses bcrypt algorithm to securely hash user passwords before storing them in the database.</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Protects user credentials by preventing plain text password storage and making them resistant to brute-force attacks.</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3. Decision-Tree based Risk Assessment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Implemented a decision-tree classification approach to categorize students into different risk levels.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Determines whether a student is Low Risk, Medium Risk, or High Risk based on quiz scores and preparedness indicators.</a:t>
            </a:r>
          </a:p>
          <a:p>
            <a:pPr marL="152400" indent="0" algn="just">
              <a:spcBef>
                <a:spcPts val="0"/>
              </a:spcBef>
              <a:buSzPct val="100000"/>
              <a:buNone/>
            </a:pPr>
            <a:r>
              <a:rPr lang="en-US" sz="2000" b="1" dirty="0">
                <a:latin typeface="Times New Roman" panose="02020603050405020304" pitchFamily="18" charset="0"/>
                <a:cs typeface="Times New Roman" panose="02020603050405020304" pitchFamily="18" charset="0"/>
              </a:rPr>
              <a:t>4. Role Based Access Control(RBAC) </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Different permissions are assigned to Students and Admins, ensuring secure and controlled route access.</a:t>
            </a: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223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8636308-D050-5BBF-6F6C-1F546B76E6BE}"/>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4235CBC6-BB27-0555-6401-256F50AC2AF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Algorithm Details</a:t>
            </a:r>
          </a:p>
        </p:txBody>
      </p:sp>
      <p:sp>
        <p:nvSpPr>
          <p:cNvPr id="115" name="Google Shape;115;p17">
            <a:extLst>
              <a:ext uri="{FF2B5EF4-FFF2-40B4-BE49-F238E27FC236}">
                <a16:creationId xmlns:a16="http://schemas.microsoft.com/office/drawing/2014/main" id="{1014834C-E890-7715-BF69-2484FBB6C93E}"/>
              </a:ext>
            </a:extLst>
          </p:cNvPr>
          <p:cNvSpPr txBox="1">
            <a:spLocks noGrp="1"/>
          </p:cNvSpPr>
          <p:nvPr>
            <p:ph type="body" idx="1"/>
          </p:nvPr>
        </p:nvSpPr>
        <p:spPr>
          <a:xfrm>
            <a:off x="646546" y="906086"/>
            <a:ext cx="10668000" cy="4904509"/>
          </a:xfrm>
          <a:prstGeom prst="rect">
            <a:avLst/>
          </a:prstGeom>
          <a:noFill/>
          <a:ln>
            <a:noFill/>
          </a:ln>
        </p:spPr>
        <p:txBody>
          <a:bodyPr spcFirstLastPara="1" wrap="square" lIns="91425" tIns="45700" rIns="91425" bIns="45700" anchor="t" anchorCtr="0">
            <a:normAutofit/>
          </a:bodyPr>
          <a:lstStyle/>
          <a:p>
            <a:pPr marL="76200" indent="0">
              <a:buNone/>
            </a:pPr>
            <a:r>
              <a:rPr lang="en-US" sz="2000" b="1" dirty="0">
                <a:latin typeface="Times New Roman" panose="02020603050405020304" pitchFamily="18" charset="0"/>
                <a:cs typeface="Times New Roman" panose="02020603050405020304" pitchFamily="18" charset="0"/>
              </a:rPr>
              <a:t>5. AI-Based Response Generation (Prompt Engineering) –</a:t>
            </a:r>
          </a:p>
          <a:p>
            <a:r>
              <a:rPr lang="en-US" sz="2000" dirty="0">
                <a:latin typeface="Times New Roman" panose="02020603050405020304" pitchFamily="18" charset="0"/>
                <a:cs typeface="Times New Roman" panose="02020603050405020304" pitchFamily="18" charset="0"/>
              </a:rPr>
              <a:t>Generates responses using an AI model based on disaster type and student level.</a:t>
            </a:r>
          </a:p>
          <a:p>
            <a:r>
              <a:rPr lang="en-US" sz="2000" dirty="0">
                <a:latin typeface="Times New Roman" panose="02020603050405020304" pitchFamily="18" charset="0"/>
                <a:cs typeface="Times New Roman" panose="02020603050405020304" pitchFamily="18" charset="0"/>
              </a:rPr>
              <a:t>Applies structured prompts to ensure concise, safe, and relevant educational answers.</a:t>
            </a:r>
          </a:p>
          <a:p>
            <a:pPr marL="76200" indent="0">
              <a:buNone/>
            </a:pPr>
            <a:r>
              <a:rPr lang="en-US" sz="2000" b="1" dirty="0">
                <a:latin typeface="Times New Roman" panose="02020603050405020304" pitchFamily="18" charset="0"/>
                <a:cs typeface="Times New Roman" panose="02020603050405020304" pitchFamily="18" charset="0"/>
              </a:rPr>
              <a:t>6. Ticket Management Algorithm –</a:t>
            </a:r>
          </a:p>
          <a:p>
            <a:r>
              <a:rPr lang="en-US" sz="2000" dirty="0">
                <a:latin typeface="Times New Roman" panose="02020603050405020304" pitchFamily="18" charset="0"/>
                <a:cs typeface="Times New Roman" panose="02020603050405020304" pitchFamily="18" charset="0"/>
              </a:rPr>
              <a:t>Allows principals to raise support tickets for school or student issues.</a:t>
            </a:r>
          </a:p>
          <a:p>
            <a:r>
              <a:rPr lang="en-US" sz="2000" dirty="0">
                <a:latin typeface="Times New Roman" panose="02020603050405020304" pitchFamily="18" charset="0"/>
                <a:cs typeface="Times New Roman" panose="02020603050405020304" pitchFamily="18" charset="0"/>
              </a:rPr>
              <a:t>Tracks ticket status (Open, In Progress, Resolved) for efficient issue handling.</a:t>
            </a:r>
          </a:p>
          <a:p>
            <a:pPr marL="76200" indent="0">
              <a:buNone/>
            </a:pPr>
            <a:r>
              <a:rPr lang="en-US" sz="2000" b="1" dirty="0">
                <a:latin typeface="Times New Roman" panose="02020603050405020304" pitchFamily="18" charset="0"/>
                <a:cs typeface="Times New Roman" panose="02020603050405020304" pitchFamily="18" charset="0"/>
              </a:rPr>
              <a:t>7. Admin Analytics Aggregation Algorithm –</a:t>
            </a:r>
          </a:p>
          <a:p>
            <a:r>
              <a:rPr lang="en-US" sz="2000" dirty="0">
                <a:latin typeface="Times New Roman" panose="02020603050405020304" pitchFamily="18" charset="0"/>
                <a:cs typeface="Times New Roman" panose="02020603050405020304" pitchFamily="18" charset="0"/>
              </a:rPr>
              <a:t>Collects and processes data such as total users, schools, and module statistics.</a:t>
            </a:r>
          </a:p>
          <a:p>
            <a:r>
              <a:rPr lang="en-US" sz="2000" dirty="0">
                <a:latin typeface="Times New Roman" panose="02020603050405020304" pitchFamily="18" charset="0"/>
                <a:cs typeface="Times New Roman" panose="02020603050405020304" pitchFamily="18" charset="0"/>
              </a:rPr>
              <a:t>Generates summarized insights for admin dashboard visualization.</a:t>
            </a:r>
          </a:p>
          <a:p>
            <a:pPr marL="76200" indent="0">
              <a:buNone/>
            </a:pPr>
            <a:r>
              <a:rPr lang="en-US" sz="2000" b="1" dirty="0">
                <a:latin typeface="Times New Roman" panose="02020603050405020304" pitchFamily="18" charset="0"/>
                <a:cs typeface="Times New Roman" panose="02020603050405020304" pitchFamily="18" charset="0"/>
              </a:rPr>
              <a:t>8. Principal Performance Analytics Algorithm –</a:t>
            </a:r>
          </a:p>
          <a:p>
            <a:r>
              <a:rPr lang="en-US" sz="2000" dirty="0">
                <a:latin typeface="Times New Roman" panose="02020603050405020304" pitchFamily="18" charset="0"/>
                <a:cs typeface="Times New Roman" panose="02020603050405020304" pitchFamily="18" charset="0"/>
              </a:rPr>
              <a:t>Calculates average progress, quiz scores, and preparedness score of students.</a:t>
            </a:r>
          </a:p>
          <a:p>
            <a:r>
              <a:rPr lang="en-US" sz="2000" dirty="0">
                <a:latin typeface="Times New Roman" panose="02020603050405020304" pitchFamily="18" charset="0"/>
                <a:cs typeface="Times New Roman" panose="02020603050405020304" pitchFamily="18" charset="0"/>
              </a:rPr>
              <a:t>Provides insights into overall school performance and learning effectiveness.</a:t>
            </a:r>
          </a:p>
          <a:p>
            <a:pPr marL="76200" indent="0">
              <a:buNone/>
            </a:pPr>
            <a:endParaRPr lang="en-US"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615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8C07D53-651B-4D84-1F4E-A35C290262C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FC7531F-AE4D-B7E2-4095-38ACFF898C0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p:txBody>
      </p:sp>
      <p:sp>
        <p:nvSpPr>
          <p:cNvPr id="4" name="Text Placeholder 3">
            <a:extLst>
              <a:ext uri="{FF2B5EF4-FFF2-40B4-BE49-F238E27FC236}">
                <a16:creationId xmlns:a16="http://schemas.microsoft.com/office/drawing/2014/main" id="{0829A0FF-72B9-599F-CC6E-5217C4C971E6}"/>
              </a:ext>
            </a:extLst>
          </p:cNvPr>
          <p:cNvSpPr>
            <a:spLocks noGrp="1" noChangeArrowheads="1"/>
          </p:cNvSpPr>
          <p:nvPr>
            <p:ph type="body" idx="1"/>
          </p:nvPr>
        </p:nvSpPr>
        <p:spPr bwMode="auto">
          <a:xfrm>
            <a:off x="812799" y="1273238"/>
            <a:ext cx="1066799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Frontend: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React.js (Vite)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CSS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GSAP ( Green Sock Animation Platform) animations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Backend:</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Node.js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Express.js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Database:</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Mongo DB</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AI:</a:t>
            </a:r>
          </a:p>
          <a:p>
            <a:pPr marL="342900" indent="-342900" algn="just" eaLnBrk="0" fontAlgn="base" hangingPunct="0">
              <a:spcBef>
                <a:spcPct val="0"/>
              </a:spcBef>
              <a:spcAft>
                <a:spcPct val="0"/>
              </a:spcAft>
              <a:buClrTx/>
              <a:buSzTx/>
            </a:pPr>
            <a:r>
              <a:rPr lang="en-US" altLang="en-US" sz="2000" dirty="0" err="1">
                <a:solidFill>
                  <a:schemeClr val="tx1"/>
                </a:solidFill>
                <a:latin typeface="Times New Roman" panose="02020603050405020304" pitchFamily="18" charset="0"/>
                <a:cs typeface="Times New Roman" panose="02020603050405020304" pitchFamily="18" charset="0"/>
              </a:rPr>
              <a:t>Ollama</a:t>
            </a:r>
            <a:r>
              <a:rPr lang="en-US" altLang="en-US" sz="2000" dirty="0">
                <a:solidFill>
                  <a:schemeClr val="tx1"/>
                </a:solidFill>
                <a:latin typeface="Times New Roman" panose="02020603050405020304" pitchFamily="18" charset="0"/>
                <a:cs typeface="Times New Roman" panose="02020603050405020304" pitchFamily="18" charset="0"/>
              </a:rPr>
              <a:t> models(local)</a:t>
            </a:r>
          </a:p>
        </p:txBody>
      </p:sp>
    </p:spTree>
    <p:extLst>
      <p:ext uri="{BB962C8B-B14F-4D97-AF65-F5344CB8AC3E}">
        <p14:creationId xmlns:p14="http://schemas.microsoft.com/office/powerpoint/2010/main" val="352684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E956D-5412-764B-6A94-F21228270195}"/>
              </a:ext>
            </a:extLst>
          </p:cNvPr>
          <p:cNvSpPr txBox="1"/>
          <p:nvPr/>
        </p:nvSpPr>
        <p:spPr>
          <a:xfrm>
            <a:off x="757084" y="350349"/>
            <a:ext cx="8278761" cy="584775"/>
          </a:xfrm>
          <a:prstGeom prst="rect">
            <a:avLst/>
          </a:prstGeom>
          <a:noFill/>
        </p:spPr>
        <p:txBody>
          <a:bodyPr wrap="square" rtlCol="0">
            <a:spAutoFit/>
          </a:bodyPr>
          <a:lstStyle/>
          <a:p>
            <a:r>
              <a:rPr lang="en-US" sz="32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GitHub Link </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EE4910-6E32-85E4-A52C-F9CF9F04D0E8}"/>
              </a:ext>
            </a:extLst>
          </p:cNvPr>
          <p:cNvSpPr txBox="1"/>
          <p:nvPr/>
        </p:nvSpPr>
        <p:spPr>
          <a:xfrm rot="10800000" flipH="1" flipV="1">
            <a:off x="757084" y="1325301"/>
            <a:ext cx="9183204" cy="400110"/>
          </a:xfrm>
          <a:prstGeom prst="rect">
            <a:avLst/>
          </a:prstGeom>
          <a:noFill/>
        </p:spPr>
        <p:txBody>
          <a:bodyPr wrap="square" rtlCol="0">
            <a:spAutoFit/>
          </a:bodyPr>
          <a:lstStyle/>
          <a:p>
            <a:pPr marL="76200" indent="0" algn="just">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2"/>
              </a:rPr>
              <a:t>https://github.com/vishnu090705/Disaster-awareness-Response-portal-</a:t>
            </a:r>
            <a:r>
              <a:rPr lang="en-US" sz="2000" dirty="0">
                <a:latin typeface="Times New Roman" panose="02020603050405020304" pitchFamily="18" charset="0"/>
                <a:ea typeface="Cambria" panose="02040503050406030204" pitchFamily="18" charset="0"/>
                <a:cs typeface="Times New Roman" panose="02020603050405020304" pitchFamily="18" charset="0"/>
              </a:rPr>
              <a:t> “</a:t>
            </a:r>
          </a:p>
        </p:txBody>
      </p:sp>
    </p:spTree>
    <p:extLst>
      <p:ext uri="{BB962C8B-B14F-4D97-AF65-F5344CB8AC3E}">
        <p14:creationId xmlns:p14="http://schemas.microsoft.com/office/powerpoint/2010/main" val="1191090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01274F-D9D1-AC36-D890-EB382FAD0C8B}"/>
              </a:ext>
            </a:extLst>
          </p:cNvPr>
          <p:cNvPicPr>
            <a:picLocks noChangeAspect="1"/>
          </p:cNvPicPr>
          <p:nvPr/>
        </p:nvPicPr>
        <p:blipFill>
          <a:blip r:embed="rId3"/>
          <a:stretch>
            <a:fillRect/>
          </a:stretch>
        </p:blipFill>
        <p:spPr>
          <a:xfrm>
            <a:off x="230155" y="1984310"/>
            <a:ext cx="10960359" cy="3943058"/>
          </a:xfrm>
          <a:prstGeom prst="rect">
            <a:avLst/>
          </a:prstGeom>
        </p:spPr>
      </p:pic>
      <p:sp>
        <p:nvSpPr>
          <p:cNvPr id="4" name="TextBox 3">
            <a:extLst>
              <a:ext uri="{FF2B5EF4-FFF2-40B4-BE49-F238E27FC236}">
                <a16:creationId xmlns:a16="http://schemas.microsoft.com/office/drawing/2014/main" id="{3F3E1D14-E0CE-B03F-4812-C3665D1F5EA5}"/>
              </a:ext>
            </a:extLst>
          </p:cNvPr>
          <p:cNvSpPr txBox="1"/>
          <p:nvPr/>
        </p:nvSpPr>
        <p:spPr>
          <a:xfrm>
            <a:off x="3309257" y="1454574"/>
            <a:ext cx="5617029"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Disaster Awareness and Response Portal</a:t>
            </a:r>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76200" indent="0">
              <a:buNone/>
            </a:pPr>
            <a:r>
              <a:rPr lang="en-US" sz="1800" cap="small" dirty="0">
                <a:latin typeface="Times New Roman" panose="02020603050405020304" pitchFamily="18" charset="0"/>
                <a:cs typeface="Times New Roman" panose="02020603050405020304" pitchFamily="18" charset="0"/>
              </a:rPr>
              <a:t>[1]National Disaster Management Authority (NDMA), National Disaster Management Guidelines, Government of India, New Delhi, India, 2019. [Online]. Available: </a:t>
            </a:r>
            <a:r>
              <a:rPr lang="en-US" sz="1800" u="sng" cap="small" dirty="0">
                <a:latin typeface="Times New Roman" panose="02020603050405020304" pitchFamily="18" charset="0"/>
                <a:cs typeface="Times New Roman" panose="02020603050405020304" pitchFamily="18" charset="0"/>
                <a:hlinkClick r:id="rId3"/>
              </a:rPr>
              <a:t>https://ndma.gov.in</a:t>
            </a:r>
            <a:endParaRPr lang="en-IN" sz="1800" u="sng" cap="small" dirty="0">
              <a:latin typeface="Times New Roman" panose="02020603050405020304" pitchFamily="18" charset="0"/>
              <a:cs typeface="Times New Roman" panose="02020603050405020304"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[2]United Nations Office for Disaster Risk Reduction (UNDRR), Sendai Framework for Disaster Risk Reduction 2015–2030, United Nations, Geneva, Switzerland, 2015. [Online]. Available: </a:t>
            </a:r>
            <a:r>
              <a:rPr lang="en-US" sz="1800" u="sng" dirty="0">
                <a:latin typeface="Times New Roman" panose="02020603050405020304" pitchFamily="18" charset="0"/>
                <a:cs typeface="Times New Roman" panose="02020603050405020304" pitchFamily="18" charset="0"/>
                <a:hlinkClick r:id="rId4"/>
              </a:rPr>
              <a:t>https://www.undrr.org</a:t>
            </a:r>
            <a:endParaRPr lang="en-IN" sz="1800" u="sng" dirty="0">
              <a:latin typeface="Times New Roman" panose="02020603050405020304" pitchFamily="18" charset="0"/>
              <a:cs typeface="Times New Roman" panose="02020603050405020304"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[3]Ready.gov, Emergency Preparedness and Response Guidelines, U.S. Department of Homeland Security, Washington, DC, USA, 2023. [Online]. Available: </a:t>
            </a:r>
            <a:r>
              <a:rPr lang="en-US" sz="1800" u="sng" dirty="0">
                <a:latin typeface="Times New Roman" panose="02020603050405020304" pitchFamily="18" charset="0"/>
                <a:cs typeface="Times New Roman" panose="02020603050405020304" pitchFamily="18" charset="0"/>
                <a:hlinkClick r:id="rId5"/>
              </a:rPr>
              <a:t>https://www.ready.gov</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[4]National Disaster Response Force (NDRF), Disaster Response Training and Awareness Materials, Ministry of Home Affairs, Government of India, New Delhi, India, 2022. [Online]. Available: </a:t>
            </a:r>
            <a:r>
              <a:rPr lang="en-US" sz="1800" u="sng" dirty="0">
                <a:latin typeface="Times New Roman" panose="02020603050405020304" pitchFamily="18" charset="0"/>
                <a:cs typeface="Times New Roman" panose="02020603050405020304" pitchFamily="18" charset="0"/>
                <a:hlinkClick r:id="rId6"/>
              </a:rPr>
              <a:t>https://ndrf.gov.in</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[5]United Nations Children’s Fund (UNICEF), Disaster Risk Reduction in Education, UNICEF Publications, New York, USA, 2021. [Online]. Available: </a:t>
            </a:r>
            <a:r>
              <a:rPr lang="en-US" sz="1800" u="sng" dirty="0">
                <a:latin typeface="Times New Roman" panose="02020603050405020304" pitchFamily="18" charset="0"/>
                <a:cs typeface="Times New Roman" panose="02020603050405020304" pitchFamily="18" charset="0"/>
                <a:hlinkClick r:id="rId7"/>
              </a:rPr>
              <a:t>https://www.unicef.org/disaster-risk-reduction</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1F06564-9AFE-2165-6AE7-F11E993A6366}"/>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D3D06565-970D-79BA-ABAC-044BD4E70F2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a:extLst>
              <a:ext uri="{FF2B5EF4-FFF2-40B4-BE49-F238E27FC236}">
                <a16:creationId xmlns:a16="http://schemas.microsoft.com/office/drawing/2014/main" id="{A8E18424-4372-4886-B00A-2AF45D967FD7}"/>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76200" indent="0">
              <a:buNone/>
            </a:pPr>
            <a:r>
              <a:rPr lang="en-US" sz="1800" dirty="0">
                <a:latin typeface="Times New Roman" panose="02020603050405020304" pitchFamily="18" charset="0"/>
                <a:cs typeface="Times New Roman" panose="02020603050405020304" pitchFamily="18" charset="0"/>
              </a:rPr>
              <a:t>[6]World Health Organization (WHO), Emergency and Disaster Preparedness Guidelines, WHO Press, Geneva, Switzerland, 2020. [Online]. Available: </a:t>
            </a:r>
            <a:r>
              <a:rPr lang="en-US" sz="1800" u="sng" dirty="0">
                <a:latin typeface="Times New Roman" panose="02020603050405020304" pitchFamily="18" charset="0"/>
                <a:cs typeface="Times New Roman" panose="02020603050405020304" pitchFamily="18" charset="0"/>
                <a:hlinkClick r:id="rId3"/>
              </a:rPr>
              <a:t>https://www.who.int/health-topics/emergencies</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[7]Asian Disaster Preparedness Center (ADPC), Community-Based Disaster Risk Reduction Guidelines, ADPC, Bangkok, Thailand, 2019. [Online]. Available: </a:t>
            </a:r>
            <a:r>
              <a:rPr lang="en-US" sz="1800" u="sng" dirty="0">
                <a:latin typeface="Times New Roman" panose="02020603050405020304" pitchFamily="18" charset="0"/>
                <a:cs typeface="Times New Roman" panose="02020603050405020304" pitchFamily="18" charset="0"/>
                <a:hlinkClick r:id="rId4"/>
              </a:rPr>
              <a:t>https://www.adpc.net</a:t>
            </a:r>
            <a:r>
              <a:rPr lang="en-US" sz="1800" dirty="0">
                <a:latin typeface="Times New Roman" panose="02020603050405020304" pitchFamily="18" charset="0"/>
                <a:cs typeface="Times New Roman" panose="02020603050405020304" pitchFamily="18" charset="0"/>
              </a:rPr>
              <a:t> </a:t>
            </a: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[8]Federal Emergency Management Agency (FEMA), Emergency Management Training and Preparedness, U.S. Department of Homeland Security, Washington, DC, USA, 2021. [Online]. Available: </a:t>
            </a:r>
            <a:r>
              <a:rPr lang="en-US" sz="1800" u="sng" dirty="0">
                <a:latin typeface="Times New Roman" panose="02020603050405020304" pitchFamily="18" charset="0"/>
                <a:cs typeface="Times New Roman" panose="02020603050405020304" pitchFamily="18" charset="0"/>
                <a:hlinkClick r:id="rId5"/>
              </a:rPr>
              <a:t>https://www.fema.gov</a:t>
            </a:r>
            <a:r>
              <a:rPr lang="en-US" sz="1800" dirty="0">
                <a:latin typeface="Times New Roman" panose="02020603050405020304" pitchFamily="18" charset="0"/>
                <a:cs typeface="Times New Roman" panose="02020603050405020304" pitchFamily="18" charset="0"/>
              </a:rPr>
              <a:t> </a:t>
            </a: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[9]International Strategy for Disaster Reduction (ISDR), Living with Risk: A Global Review of Disaster Reduction Initiatives, United Nations, Geneva, Switzerland, 2004.</a:t>
            </a: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a:t>
            </a:r>
            <a:r>
              <a:rPr lang="en-US" sz="1800">
                <a:latin typeface="Times New Roman" panose="02020603050405020304" pitchFamily="18" charset="0"/>
                <a:cs typeface="Times New Roman" panose="02020603050405020304" pitchFamily="18" charset="0"/>
              </a:rPr>
              <a:t>10]International </a:t>
            </a:r>
            <a:r>
              <a:rPr lang="en-US" sz="1800" dirty="0">
                <a:latin typeface="Times New Roman" panose="02020603050405020304" pitchFamily="18" charset="0"/>
                <a:cs typeface="Times New Roman" panose="02020603050405020304" pitchFamily="18" charset="0"/>
              </a:rPr>
              <a:t>Federation of Red Cross and Red Crescent Societies (IFRC), World Disasters Report, IFRC, Geneva, Switzerland, 2020. [Online]. Available: </a:t>
            </a:r>
            <a:r>
              <a:rPr lang="en-US" sz="1800" u="sng" dirty="0">
                <a:latin typeface="Times New Roman" panose="02020603050405020304" pitchFamily="18" charset="0"/>
                <a:cs typeface="Times New Roman" panose="02020603050405020304" pitchFamily="18" charset="0"/>
                <a:hlinkClick r:id="rId6"/>
              </a:rPr>
              <a:t>https://www.ifrc.org</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738105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996</TotalTime>
  <Words>1397</Words>
  <Application>Microsoft Office PowerPoint</Application>
  <PresentationFormat>Widescreen</PresentationFormat>
  <Paragraphs>154</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Cambria</vt:lpstr>
      <vt:lpstr>Times New Roman</vt:lpstr>
      <vt:lpstr>Verdana</vt:lpstr>
      <vt:lpstr>Wingdings</vt:lpstr>
      <vt:lpstr>Bioinformatics</vt:lpstr>
      <vt:lpstr>Disaster preparedness and Response Education System for Schools and Colleges. (Disaster Awareness Portal)</vt:lpstr>
      <vt:lpstr>Content</vt:lpstr>
      <vt:lpstr>Problem Statement Number: SHI25008</vt:lpstr>
      <vt:lpstr> Objectives </vt:lpstr>
      <vt:lpstr> Existing &amp; Drawbacks of existing Methods</vt:lpstr>
      <vt:lpstr>Architecture Diagram</vt:lpstr>
      <vt:lpstr>Modules</vt:lpstr>
      <vt:lpstr>Modules</vt:lpstr>
      <vt:lpstr>Algorithm Details</vt:lpstr>
      <vt:lpstr>Algorithm Details</vt:lpstr>
      <vt:lpstr>Technology Stack</vt:lpstr>
      <vt:lpstr>PowerPoint Presentation</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Vasista S</cp:lastModifiedBy>
  <cp:revision>85</cp:revision>
  <dcterms:modified xsi:type="dcterms:W3CDTF">2026-04-18T14:44:15Z</dcterms:modified>
</cp:coreProperties>
</file>