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9" r:id="rId3"/>
    <p:sldId id="257" r:id="rId4"/>
    <p:sldId id="273" r:id="rId5"/>
    <p:sldId id="279" r:id="rId6"/>
    <p:sldId id="280" r:id="rId7"/>
    <p:sldId id="276" r:id="rId8"/>
    <p:sldId id="275" r:id="rId9"/>
    <p:sldId id="278"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72" autoAdjust="0"/>
    <p:restoredTop sz="94660"/>
  </p:normalViewPr>
  <p:slideViewPr>
    <p:cSldViewPr snapToGrid="0">
      <p:cViewPr varScale="1">
        <p:scale>
          <a:sx n="77" d="100"/>
          <a:sy n="77" d="100"/>
        </p:scale>
        <p:origin x="68"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3D2BE45-49D7-D6CE-FC98-8746552BCC89}"/>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071D60D4-7EFD-BC7A-4778-4620C7735F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4BF02289-E53A-C33E-6EC9-3FF20A47BD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3319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A567BC40-D7D7-5A78-0F38-7002E2965AF2}"/>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4A6AA727-F4C8-A0CB-9E55-0C1F75EDB2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4F499FAD-0544-65A6-4AEF-6C8FCCC3BF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84982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vishnu090705/Disaster-awareness-Response-portal-"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ndma.gov.in/" TargetMode="External"/><Relationship Id="rId7" Type="http://schemas.openxmlformats.org/officeDocument/2006/relationships/hyperlink" Target="https://www.unicef.org/disaster-risk-reduction"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ndrf.gov.in/" TargetMode="External"/><Relationship Id="rId5" Type="http://schemas.openxmlformats.org/officeDocument/2006/relationships/hyperlink" Target="https://www.ready.gov/" TargetMode="External"/><Relationship Id="rId4" Type="http://schemas.openxmlformats.org/officeDocument/2006/relationships/hyperlink" Target="https://www.undrr.org/"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latin typeface="Times New Roman" panose="02020603050405020304" pitchFamily="18" charset="0"/>
                <a:cs typeface="Times New Roman" panose="02020603050405020304" pitchFamily="18" charset="0"/>
              </a:rPr>
              <a:t>Disaster preparedness and Response Education System for Schools and Colleges. (Disaster Awareness and Response Portal)</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CSE_119</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Dr. Pamela Vinitha Eric</a:t>
            </a: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                                     </a:t>
            </a:r>
            <a:r>
              <a:rPr lang="en-IN"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US" sz="1800" b="1"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Professor </a:t>
            </a:r>
            <a:endParaRPr lang="en-US" sz="18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lvl="0" algn="ctr">
              <a:spcBef>
                <a:spcPts val="340"/>
              </a:spcBef>
              <a:buClr>
                <a:srgbClr val="17365D"/>
              </a:buClr>
              <a:buSzPts val="1700"/>
            </a:pPr>
            <a:r>
              <a:rPr lang="en-US" sz="1800" b="1"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School of Computer Science and Engineering</a:t>
            </a:r>
            <a:endParaRPr lang="en-US" sz="18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lvl="0" algn="ctr">
              <a:spcBef>
                <a:spcPts val="340"/>
              </a:spcBef>
              <a:buClr>
                <a:srgbClr val="17365D"/>
              </a:buClr>
              <a:buSzPts val="1700"/>
            </a:pPr>
            <a:r>
              <a:rPr lang="en-US" sz="1800" b="1"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Presidency University</a:t>
            </a:r>
            <a:endParaRPr lang="en-US" sz="18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lvl="0">
              <a:spcBef>
                <a:spcPts val="340"/>
              </a:spcBef>
              <a:buClr>
                <a:srgbClr val="17365D"/>
              </a:buClr>
              <a:buSzPts val="1700"/>
            </a:pPr>
            <a:endParaRPr lang="en-US" sz="17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522611188"/>
              </p:ext>
            </p:extLst>
          </p:nvPr>
        </p:nvGraphicFramePr>
        <p:xfrm>
          <a:off x="612875" y="2448290"/>
          <a:ext cx="5158459" cy="1812059"/>
        </p:xfrm>
        <a:graphic>
          <a:graphicData uri="http://schemas.openxmlformats.org/drawingml/2006/table">
            <a:tbl>
              <a:tblPr firstRow="1" bandRow="1">
                <a:noFill/>
                <a:tableStyleId>{57690726-49DA-4552-BDEB-330DD8EA8BD9}</a:tableStyleId>
              </a:tblPr>
              <a:tblGrid>
                <a:gridCol w="2239014">
                  <a:extLst>
                    <a:ext uri="{9D8B030D-6E8A-4147-A177-3AD203B41FA5}">
                      <a16:colId xmlns:a16="http://schemas.microsoft.com/office/drawing/2014/main" val="20000"/>
                    </a:ext>
                  </a:extLst>
                </a:gridCol>
                <a:gridCol w="2919445">
                  <a:extLst>
                    <a:ext uri="{9D8B030D-6E8A-4147-A177-3AD203B41FA5}">
                      <a16:colId xmlns:a16="http://schemas.microsoft.com/office/drawing/2014/main" val="20001"/>
                    </a:ext>
                  </a:extLst>
                </a:gridCol>
              </a:tblGrid>
              <a:tr h="444403">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4440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mj-lt"/>
                        <a:buNone/>
                        <a:tabLst/>
                        <a:defRPr/>
                      </a:pPr>
                      <a:r>
                        <a:rPr lang="en-US" sz="1800" b="0" strike="noStrike" spc="-1" dirty="0">
                          <a:solidFill>
                            <a:srgbClr val="000000"/>
                          </a:solidFill>
                          <a:latin typeface="+mn-lt"/>
                          <a:ea typeface="Arial"/>
                        </a:rPr>
                        <a:t>20221CSE0090</a:t>
                      </a:r>
                      <a:endParaRPr lang="en-US" sz="1800" b="0" strike="noStrike" spc="-1"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i="0" u="none" strike="noStrike" kern="1200" cap="none" baseline="0" dirty="0">
                          <a:solidFill>
                            <a:schemeClr val="tx1"/>
                          </a:solidFill>
                          <a:latin typeface="+mn-lt"/>
                          <a:ea typeface="Bookman Old Style"/>
                          <a:cs typeface="Bookman Old Style"/>
                          <a:sym typeface="Arial"/>
                        </a:rPr>
                        <a:t>P</a:t>
                      </a:r>
                      <a:r>
                        <a:rPr lang="en-IN" sz="1800" b="0" i="0" u="none" strike="noStrike" kern="1200" cap="none" baseline="0" dirty="0">
                          <a:solidFill>
                            <a:schemeClr val="tx1"/>
                          </a:solidFill>
                          <a:latin typeface="+mn-lt"/>
                          <a:ea typeface="Bookman Old Style"/>
                          <a:cs typeface="Bookman Old Style"/>
                          <a:sym typeface="Arial"/>
                        </a:rPr>
                        <a:t> Vishnu Vardhan</a:t>
                      </a: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44403">
                <a:tc>
                  <a:txBody>
                    <a:bodyPr/>
                    <a:lstStyle/>
                    <a:p>
                      <a:pPr marL="0" marR="0" lvl="0" indent="0" algn="ctr" rtl="0">
                        <a:spcBef>
                          <a:spcPts val="0"/>
                        </a:spcBef>
                        <a:spcAft>
                          <a:spcPts val="0"/>
                        </a:spcAft>
                        <a:buNone/>
                      </a:pPr>
                      <a:r>
                        <a:rPr lang="en-IN" sz="1800" dirty="0">
                          <a:latin typeface="+mn-lt"/>
                        </a:rPr>
                        <a:t> 20221CSE0195</a:t>
                      </a:r>
                      <a:endParaRPr sz="1800" u="none" strike="noStrike" cap="none"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800" u="none" strike="noStrike" cap="none" dirty="0">
                          <a:latin typeface="+mn-lt"/>
                        </a:rPr>
                        <a:t>S</a:t>
                      </a:r>
                      <a:r>
                        <a:rPr lang="en-IN" sz="1800" u="none" strike="noStrike" cap="none" dirty="0">
                          <a:latin typeface="+mn-lt"/>
                        </a:rPr>
                        <a:t> Vasista</a:t>
                      </a:r>
                      <a:endParaRPr sz="1800" u="none" strike="noStrike" cap="none"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78850">
                <a:tc>
                  <a:txBody>
                    <a:bodyPr/>
                    <a:lstStyle/>
                    <a:p>
                      <a:pPr marL="0" marR="0" lvl="0" indent="0" algn="ctr" rtl="0">
                        <a:spcBef>
                          <a:spcPts val="0"/>
                        </a:spcBef>
                        <a:spcAft>
                          <a:spcPts val="0"/>
                        </a:spcAft>
                        <a:buNone/>
                      </a:pPr>
                      <a:r>
                        <a:rPr lang="en-IN" sz="1800" dirty="0">
                          <a:latin typeface="+mn-lt"/>
                        </a:rPr>
                        <a:t>20221CSE0225</a:t>
                      </a:r>
                      <a:endParaRPr sz="1800" u="none" strike="noStrike" cap="none"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800" u="none" strike="noStrike" cap="none" dirty="0">
                          <a:latin typeface="+mn-lt"/>
                        </a:rPr>
                        <a:t>A</a:t>
                      </a:r>
                      <a:r>
                        <a:rPr lang="en-IN" sz="1800" u="none" strike="noStrike" cap="none" dirty="0">
                          <a:latin typeface="+mn-lt"/>
                        </a:rPr>
                        <a:t> Dhanush</a:t>
                      </a:r>
                      <a:endParaRPr sz="1800" u="none" strike="noStrike" cap="none"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800" b="1" dirty="0">
                <a:solidFill>
                  <a:srgbClr val="17365D"/>
                </a:solidFill>
                <a:latin typeface="Cambria" panose="02040503050406030204" pitchFamily="18" charset="0"/>
                <a:ea typeface="Cambria" panose="02040503050406030204" pitchFamily="18" charset="0"/>
                <a:cs typeface="Verdana"/>
                <a:sym typeface="Verdana"/>
              </a:rPr>
              <a:t>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Review-04</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42213"/>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spc="-1" dirty="0">
                <a:latin typeface="Cambria"/>
                <a:ea typeface="Cambria"/>
              </a:rPr>
              <a:t>Computer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spc="-1" dirty="0">
                <a:latin typeface="Cambria"/>
                <a:ea typeface="Cambria"/>
              </a:rPr>
              <a:t>Dr. Blessed Prince</a:t>
            </a:r>
            <a:endParaRPr lang="en-US" sz="1800" spc="-1" dirty="0"/>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600" b="1" dirty="0"/>
              <a:t>Dr. Muthuraj</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Category : </a:t>
            </a:r>
            <a:r>
              <a:rPr lang="en-US" sz="2000" dirty="0">
                <a:latin typeface="Times New Roman" panose="02020603050405020304" pitchFamily="18" charset="0"/>
                <a:ea typeface="Cambria" panose="02040503050406030204" pitchFamily="18" charset="0"/>
                <a:cs typeface="Times New Roman" panose="02020603050405020304" pitchFamily="18" charset="0"/>
              </a:rPr>
              <a:t>Software</a:t>
            </a:r>
          </a:p>
          <a:p>
            <a:pPr marL="342900" lvl="0" indent="-190500" algn="just">
              <a:spcBef>
                <a:spcPts val="0"/>
              </a:spcBef>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Organization : </a:t>
            </a:r>
            <a:r>
              <a:rPr lang="en-US" sz="2000" dirty="0">
                <a:latin typeface="Times New Roman" panose="02020603050405020304" pitchFamily="18" charset="0"/>
                <a:ea typeface="Cambria" panose="02040503050406030204" pitchFamily="18" charset="0"/>
                <a:cs typeface="Times New Roman" panose="02020603050405020304" pitchFamily="18" charset="0"/>
              </a:rPr>
              <a:t>Educational Institutes (Schools &amp; Colleges)   </a:t>
            </a:r>
          </a:p>
          <a:p>
            <a:pPr marL="76200" indent="0" algn="just">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 Problem Description : </a:t>
            </a:r>
          </a:p>
          <a:p>
            <a:pPr marL="76200" indent="0" algn="just">
              <a:buNone/>
            </a:pPr>
            <a:r>
              <a:rPr lang="en-US" sz="2000" dirty="0">
                <a:latin typeface="Times New Roman" panose="02020603050405020304" pitchFamily="18" charset="0"/>
                <a:cs typeface="Times New Roman" panose="02020603050405020304" pitchFamily="18" charset="0"/>
              </a:rPr>
              <a:t>The Disaster Awareness Web Application is an interactive platform designed to educate students and the general public about disaster preparedness and safety measures. The website provides structured information about actions to take before, during, and after disasters such as earthquakes, floods, and fires.</a:t>
            </a:r>
          </a:p>
          <a:p>
            <a:pPr marL="76200" indent="0" algn="just">
              <a:buNone/>
            </a:pPr>
            <a:r>
              <a:rPr lang="en-US" sz="2000" dirty="0">
                <a:latin typeface="Times New Roman" panose="02020603050405020304" pitchFamily="18" charset="0"/>
                <a:cs typeface="Times New Roman" panose="02020603050405020304" pitchFamily="18" charset="0"/>
              </a:rPr>
              <a:t>The system includes interactive learning features like quizzes to test users’ knowledge and an AI-powered chatbot that answers disaster-related questions in real time. The platform is built using modern web technologies including React.js for the frontend and Node.js with Express for the backend, ensuring a responsive and user-friendly interface.</a:t>
            </a:r>
          </a:p>
          <a:p>
            <a:pPr marL="76200" indent="0" algn="just">
              <a:buNone/>
            </a:pPr>
            <a:r>
              <a:rPr lang="en-US" sz="2000" dirty="0">
                <a:latin typeface="Times New Roman" panose="02020603050405020304" pitchFamily="18" charset="0"/>
                <a:cs typeface="Times New Roman" panose="02020603050405020304" pitchFamily="18" charset="0"/>
              </a:rPr>
              <a:t>The main goal of this project is to increase disaster awareness, improve preparedness, and provide quick guidance during emergency situations through an engaging digital learning experience.</a:t>
            </a:r>
          </a:p>
          <a:p>
            <a:pPr marL="342900" lvl="0" indent="-190500" algn="just">
              <a:spcBef>
                <a:spcPts val="0"/>
              </a:spcBef>
              <a:buNone/>
            </a:pPr>
            <a:endParaRPr lang="en-US" sz="2000" b="1"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125895"/>
            <a:ext cx="10668000" cy="4870578"/>
          </a:xfrm>
          <a:prstGeom prst="rect">
            <a:avLst/>
          </a:prstGeom>
          <a:noFill/>
          <a:ln>
            <a:noFill/>
          </a:ln>
        </p:spPr>
        <p:txBody>
          <a:bodyPr spcFirstLastPara="1" wrap="square" lIns="91425" tIns="45700" rIns="91425" bIns="45700" anchor="t" anchorCtr="0">
            <a:normAutofit fontScale="92500" lnSpcReduction="20000"/>
          </a:bodyPr>
          <a:lstStyle/>
          <a:p>
            <a:pPr marL="49530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Problem Statement</a:t>
            </a:r>
          </a:p>
          <a:p>
            <a:pPr marL="49530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Objectives</a:t>
            </a:r>
          </a:p>
          <a:p>
            <a:pPr marL="49530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Existing Methods / Drawbacks of existing methods</a:t>
            </a:r>
          </a:p>
          <a:p>
            <a:pPr marL="495300" lvl="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Architecture Diagram</a:t>
            </a:r>
          </a:p>
          <a:p>
            <a:pPr marL="495300" lvl="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Algorithms Details</a:t>
            </a:r>
          </a:p>
          <a:p>
            <a:pPr marL="495300" lvl="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Technology Stack</a:t>
            </a:r>
          </a:p>
          <a:p>
            <a:pPr marL="495300" lvl="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GitHub Link</a:t>
            </a:r>
          </a:p>
          <a:p>
            <a:pPr marL="495300" lvl="0" indent="-342900" algn="just" rtl="0">
              <a:lnSpc>
                <a:spcPct val="170000"/>
              </a:lnSpc>
              <a:spcBef>
                <a:spcPts val="0"/>
              </a:spcBef>
              <a:spcAft>
                <a:spcPts val="0"/>
              </a:spcAft>
              <a:buClr>
                <a:schemeClr val="dk1"/>
              </a:buClr>
              <a:buSzPts val="2400"/>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Timeline of the Project</a:t>
            </a:r>
          </a:p>
          <a:p>
            <a:pPr marL="495300" lvl="0" indent="-342900" algn="just" rtl="0">
              <a:lnSpc>
                <a:spcPct val="170000"/>
              </a:lnSpc>
              <a:spcBef>
                <a:spcPts val="0"/>
              </a:spcBef>
              <a:spcAft>
                <a:spcPts val="0"/>
              </a:spcAft>
              <a:buClr>
                <a:schemeClr val="dk1"/>
              </a:buClr>
              <a:buSzPts val="2400"/>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References</a:t>
            </a:r>
          </a:p>
          <a:p>
            <a:pPr marL="495300" lvl="0" indent="-342900" algn="just" rtl="0">
              <a:lnSpc>
                <a:spcPct val="170000"/>
              </a:lnSpc>
              <a:spcBef>
                <a:spcPts val="0"/>
              </a:spcBef>
              <a:spcAft>
                <a:spcPts val="0"/>
              </a:spcAft>
              <a:buClr>
                <a:schemeClr val="dk1"/>
              </a:buClr>
              <a:buSzPts val="2400"/>
              <a:buFont typeface="Wingdings" panose="05000000000000000000" pitchFamily="2" charset="2"/>
              <a:buChar char="Ø"/>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170000"/>
              </a:lnSpc>
              <a:spcBef>
                <a:spcPts val="0"/>
              </a:spcBef>
              <a:spcAft>
                <a:spcPts val="0"/>
              </a:spcAft>
              <a:buClr>
                <a:schemeClr val="dk1"/>
              </a:buClr>
              <a:buSzPts val="2400"/>
              <a:buFont typeface="Wingdings" panose="05000000000000000000" pitchFamily="2" charset="2"/>
              <a:buChar char="Ø"/>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170000"/>
              </a:lnSpc>
              <a:spcBef>
                <a:spcPts val="0"/>
              </a:spcBef>
              <a:spcAft>
                <a:spcPts val="0"/>
              </a:spcAft>
              <a:buClr>
                <a:schemeClr val="dk1"/>
              </a:buClr>
              <a:buSzPts val="2400"/>
              <a:buFont typeface="Wingdings" panose="05000000000000000000" pitchFamily="2" charset="2"/>
              <a:buChar char="Ø"/>
            </a:pP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br>
              <a:rPr lang="en-US" dirty="0">
                <a:latin typeface="Times New Roman" panose="02020603050405020304" pitchFamily="18" charset="0"/>
                <a:ea typeface="Cambria" panose="02040503050406030204" pitchFamily="18" charset="0"/>
                <a:cs typeface="Times New Roman" panose="02020603050405020304" pitchFamily="18" charset="0"/>
              </a:rPr>
            </a:br>
            <a:r>
              <a:rPr lang="en-US" dirty="0">
                <a:latin typeface="Times New Roman" panose="02020603050405020304" pitchFamily="18" charset="0"/>
                <a:ea typeface="Cambria" panose="02040503050406030204" pitchFamily="18" charset="0"/>
                <a:cs typeface="Times New Roman" panose="02020603050405020304" pitchFamily="18" charset="0"/>
              </a:rPr>
              <a:t>Objectives</a:t>
            </a:r>
            <a:br>
              <a:rPr lang="en-US" dirty="0">
                <a:latin typeface="Times New Roman" panose="02020603050405020304" pitchFamily="18" charset="0"/>
                <a:ea typeface="Cambria" panose="02040503050406030204" pitchFamily="18" charset="0"/>
                <a:cs typeface="Times New Roman" panose="02020603050405020304" pitchFamily="18" charset="0"/>
              </a:rPr>
            </a:br>
            <a:endParaRPr lang="en-US"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5" name="Google Shape;115;p17"/>
          <p:cNvSpPr txBox="1">
            <a:spLocks noGrp="1"/>
          </p:cNvSpPr>
          <p:nvPr>
            <p:ph type="body" idx="1"/>
          </p:nvPr>
        </p:nvSpPr>
        <p:spPr>
          <a:xfrm>
            <a:off x="812800" y="1230086"/>
            <a:ext cx="10668000" cy="4953000"/>
          </a:xfrm>
          <a:prstGeom prst="rect">
            <a:avLst/>
          </a:prstGeom>
          <a:noFill/>
          <a:ln>
            <a:noFill/>
          </a:ln>
        </p:spPr>
        <p:txBody>
          <a:bodyPr spcFirstLastPara="1" wrap="square" lIns="91425" tIns="45700" rIns="91425" bIns="45700" anchor="t" anchorCtr="0">
            <a:normAutofit/>
          </a:bodyPr>
          <a:lstStyle/>
          <a:p>
            <a:pPr marL="76200" indent="0" algn="just">
              <a:buNone/>
            </a:pPr>
            <a:r>
              <a:rPr lang="en-US" sz="2000" b="1" dirty="0">
                <a:latin typeface="Times New Roman" panose="02020603050405020304" pitchFamily="18" charset="0"/>
                <a:cs typeface="Times New Roman" panose="02020603050405020304" pitchFamily="18" charset="0"/>
              </a:rPr>
              <a:t>Objectives:</a:t>
            </a:r>
          </a:p>
          <a:p>
            <a:pPr algn="just"/>
            <a:r>
              <a:rPr lang="en-US" sz="2000" dirty="0">
                <a:latin typeface="Times New Roman" panose="02020603050405020304" pitchFamily="18" charset="0"/>
                <a:cs typeface="Times New Roman" panose="02020603050405020304" pitchFamily="18" charset="0"/>
              </a:rPr>
              <a:t>To develop a digital platform for </a:t>
            </a:r>
            <a:r>
              <a:rPr lang="en-US" sz="2000" b="1" dirty="0">
                <a:latin typeface="Times New Roman" panose="02020603050405020304" pitchFamily="18" charset="0"/>
                <a:cs typeface="Times New Roman" panose="02020603050405020304" pitchFamily="18" charset="0"/>
              </a:rPr>
              <a:t>disaster preparedness and response education</a:t>
            </a:r>
            <a:r>
              <a:rPr lang="en-US" sz="2000" dirty="0">
                <a:latin typeface="Times New Roman" panose="02020603050405020304" pitchFamily="18" charset="0"/>
                <a:cs typeface="Times New Roman" panose="02020603050405020304" pitchFamily="18" charset="0"/>
              </a:rPr>
              <a:t> for school and college students.</a:t>
            </a:r>
          </a:p>
          <a:p>
            <a:pPr algn="just"/>
            <a:r>
              <a:rPr lang="en-US" sz="2000" dirty="0">
                <a:latin typeface="Times New Roman" panose="02020603050405020304" pitchFamily="18" charset="0"/>
                <a:cs typeface="Times New Roman" panose="02020603050405020304" pitchFamily="18" charset="0"/>
              </a:rPr>
              <a:t>To educate students on </a:t>
            </a:r>
            <a:r>
              <a:rPr lang="en-US" sz="2000" b="1" dirty="0">
                <a:latin typeface="Times New Roman" panose="02020603050405020304" pitchFamily="18" charset="0"/>
                <a:cs typeface="Times New Roman" panose="02020603050405020304" pitchFamily="18" charset="0"/>
              </a:rPr>
              <a:t>safety measures before, during, and after disasters</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To provide </a:t>
            </a:r>
            <a:r>
              <a:rPr lang="en-US" sz="2000" b="1" dirty="0">
                <a:latin typeface="Times New Roman" panose="02020603050405020304" pitchFamily="18" charset="0"/>
                <a:cs typeface="Times New Roman" panose="02020603050405020304" pitchFamily="18" charset="0"/>
              </a:rPr>
              <a:t>interactive learning modules and quizzes</a:t>
            </a:r>
            <a:r>
              <a:rPr lang="en-US" sz="2000" dirty="0">
                <a:latin typeface="Times New Roman" panose="02020603050405020304" pitchFamily="18" charset="0"/>
                <a:cs typeface="Times New Roman" panose="02020603050405020304" pitchFamily="18" charset="0"/>
              </a:rPr>
              <a:t> for better understanding and retention.</a:t>
            </a:r>
          </a:p>
          <a:p>
            <a:pPr algn="just"/>
            <a:r>
              <a:rPr lang="en-US" sz="2000" dirty="0">
                <a:latin typeface="Times New Roman" panose="02020603050405020304" pitchFamily="18" charset="0"/>
                <a:cs typeface="Times New Roman" panose="02020603050405020304" pitchFamily="18" charset="0"/>
              </a:rPr>
              <a:t>To improve student awareness through </a:t>
            </a:r>
            <a:r>
              <a:rPr lang="en-US" sz="2000" b="1" dirty="0">
                <a:latin typeface="Times New Roman" panose="02020603050405020304" pitchFamily="18" charset="0"/>
                <a:cs typeface="Times New Roman" panose="02020603050405020304" pitchFamily="18" charset="0"/>
              </a:rPr>
              <a:t>preparedness checklists and scenario-based learning</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To enable </a:t>
            </a:r>
            <a:r>
              <a:rPr lang="en-US" sz="2000" b="1" dirty="0">
                <a:latin typeface="Times New Roman" panose="02020603050405020304" pitchFamily="18" charset="0"/>
                <a:cs typeface="Times New Roman" panose="02020603050405020304" pitchFamily="18" charset="0"/>
              </a:rPr>
              <a:t>easy access to disaster safety information</a:t>
            </a:r>
            <a:r>
              <a:rPr lang="en-US" sz="2000" dirty="0">
                <a:latin typeface="Times New Roman" panose="02020603050405020304" pitchFamily="18" charset="0"/>
                <a:cs typeface="Times New Roman" panose="02020603050405020304" pitchFamily="18" charset="0"/>
              </a:rPr>
              <a:t> through a user-friendly interface.</a:t>
            </a:r>
          </a:p>
          <a:p>
            <a:pPr algn="just"/>
            <a:r>
              <a:rPr lang="en-US" sz="2000" dirty="0">
                <a:latin typeface="Times New Roman" panose="02020603050405020304" pitchFamily="18" charset="0"/>
                <a:cs typeface="Times New Roman" panose="02020603050405020304" pitchFamily="18" charset="0"/>
              </a:rPr>
              <a:t>To enhance overall </a:t>
            </a:r>
            <a:r>
              <a:rPr lang="en-US" sz="2000" b="1" dirty="0">
                <a:latin typeface="Times New Roman" panose="02020603050405020304" pitchFamily="18" charset="0"/>
                <a:cs typeface="Times New Roman" panose="02020603050405020304" pitchFamily="18" charset="0"/>
              </a:rPr>
              <a:t>disaster readiness and response capability</a:t>
            </a:r>
            <a:r>
              <a:rPr lang="en-US" sz="2000" dirty="0">
                <a:latin typeface="Times New Roman" panose="02020603050405020304" pitchFamily="18" charset="0"/>
                <a:cs typeface="Times New Roman" panose="02020603050405020304" pitchFamily="18" charset="0"/>
              </a:rPr>
              <a:t> among students.</a:t>
            </a:r>
          </a:p>
          <a:p>
            <a:pPr marL="76200" indent="0" algn="just">
              <a:buNone/>
            </a:pPr>
            <a:endParaRPr lang="en-US" sz="2000" b="1" dirty="0">
              <a:latin typeface="Times New Roman" panose="02020603050405020304" pitchFamily="18" charset="0"/>
              <a:ea typeface="Cambria" panose="02040503050406030204" pitchFamily="18" charset="0"/>
              <a:cs typeface="Times New Roman" panose="02020603050405020304" pitchFamily="18" charset="0"/>
            </a:endParaRPr>
          </a:p>
          <a:p>
            <a:pPr marL="7620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5F10F-19E2-98BE-9527-D3722187BB8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Existing &amp; Drawbacks of existing Methods</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7DB912D-5202-3C21-5FE8-4D85CC1FC789}"/>
              </a:ext>
            </a:extLst>
          </p:cNvPr>
          <p:cNvSpPr>
            <a:spLocks noGrp="1"/>
          </p:cNvSpPr>
          <p:nvPr>
            <p:ph type="body" idx="1"/>
          </p:nvPr>
        </p:nvSpPr>
        <p:spPr/>
        <p:txBody>
          <a:bodyPr>
            <a:normAutofit/>
          </a:bodyPr>
          <a:lstStyle/>
          <a:p>
            <a:pPr marL="342900" lvl="0" indent="-190500" algn="just">
              <a:spcBef>
                <a:spcPts val="0"/>
              </a:spcBef>
              <a:buSzPct val="100000"/>
              <a:buNone/>
            </a:pPr>
            <a:r>
              <a:rPr lang="en-IN" sz="2000" b="1" dirty="0">
                <a:latin typeface="Times New Roman" panose="02020603050405020304" pitchFamily="18" charset="0"/>
                <a:cs typeface="Times New Roman" panose="02020603050405020304" pitchFamily="18" charset="0"/>
              </a:rPr>
              <a:t>Existing Methods :</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Disaster information is mainly provided through </a:t>
            </a:r>
            <a:r>
              <a:rPr lang="en-US" sz="2000" b="1" dirty="0">
                <a:latin typeface="Times New Roman" panose="02020603050405020304" pitchFamily="18" charset="0"/>
                <a:cs typeface="Times New Roman" panose="02020603050405020304" pitchFamily="18" charset="0"/>
              </a:rPr>
              <a:t>government websites, PDFs, manuals, and notices</a:t>
            </a:r>
            <a:r>
              <a:rPr lang="en-US" sz="20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Awareness is created through </a:t>
            </a:r>
            <a:r>
              <a:rPr lang="en-US" sz="2000" b="1" dirty="0">
                <a:latin typeface="Times New Roman" panose="02020603050405020304" pitchFamily="18" charset="0"/>
                <a:cs typeface="Times New Roman" panose="02020603050405020304" pitchFamily="18" charset="0"/>
              </a:rPr>
              <a:t>occasional workshops, drills, or seminars</a:t>
            </a:r>
            <a:r>
              <a:rPr lang="en-US" sz="2000" dirty="0">
                <a:latin typeface="Times New Roman" panose="02020603050405020304" pitchFamily="18" charset="0"/>
                <a:cs typeface="Times New Roman" panose="02020603050405020304" pitchFamily="18" charset="0"/>
              </a:rPr>
              <a:t> in schools and colleges.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Information is mostly </a:t>
            </a:r>
            <a:r>
              <a:rPr lang="en-US" sz="2000" b="1" dirty="0">
                <a:latin typeface="Times New Roman" panose="02020603050405020304" pitchFamily="18" charset="0"/>
                <a:cs typeface="Times New Roman" panose="02020603050405020304" pitchFamily="18" charset="0"/>
              </a:rPr>
              <a:t>text-based and theoretical</a:t>
            </a:r>
            <a:r>
              <a:rPr lang="en-US" sz="2000" dirty="0">
                <a:latin typeface="Times New Roman" panose="02020603050405020304" pitchFamily="18" charset="0"/>
                <a:cs typeface="Times New Roman" panose="02020603050405020304" pitchFamily="18" charset="0"/>
              </a:rPr>
              <a:t> in nature.</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Training programs are usually </a:t>
            </a:r>
            <a:r>
              <a:rPr lang="en-US" sz="2000" b="1" dirty="0">
                <a:latin typeface="Times New Roman" panose="02020603050405020304" pitchFamily="18" charset="0"/>
                <a:cs typeface="Times New Roman" panose="02020603050405020304" pitchFamily="18" charset="0"/>
              </a:rPr>
              <a:t>one-time and not continuous</a:t>
            </a:r>
            <a:r>
              <a:rPr lang="en-US" sz="2000" dirty="0">
                <a:latin typeface="Times New Roman" panose="02020603050405020304" pitchFamily="18" charset="0"/>
                <a:cs typeface="Times New Roman" panose="02020603050405020304" pitchFamily="18" charset="0"/>
              </a:rPr>
              <a:t>.</a:t>
            </a:r>
          </a:p>
          <a:p>
            <a:pPr marL="152400" indent="0" algn="just">
              <a:spcBef>
                <a:spcPts val="0"/>
              </a:spcBef>
              <a:buSzPct val="100000"/>
              <a:buNone/>
            </a:pPr>
            <a:endParaRPr lang="en-US" sz="2000" dirty="0">
              <a:latin typeface="Times New Roman" panose="02020603050405020304" pitchFamily="18" charset="0"/>
              <a:cs typeface="Times New Roman" panose="02020603050405020304" pitchFamily="18" charset="0"/>
            </a:endParaRPr>
          </a:p>
          <a:p>
            <a:pPr marL="152400" indent="0" algn="just">
              <a:spcBef>
                <a:spcPts val="0"/>
              </a:spcBef>
              <a:buSzPct val="100000"/>
              <a:buNone/>
            </a:pPr>
            <a:r>
              <a:rPr lang="en-IN" sz="2000" b="1" dirty="0">
                <a:latin typeface="Times New Roman" panose="02020603050405020304" pitchFamily="18" charset="0"/>
                <a:cs typeface="Times New Roman" panose="02020603050405020304" pitchFamily="18" charset="0"/>
              </a:rPr>
              <a:t>Drawbacks of Existing Methods: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Limited accessibility and </a:t>
            </a:r>
            <a:r>
              <a:rPr lang="en-US" sz="2000" b="1" dirty="0">
                <a:latin typeface="Times New Roman" panose="02020603050405020304" pitchFamily="18" charset="0"/>
                <a:cs typeface="Times New Roman" panose="02020603050405020304" pitchFamily="18" charset="0"/>
              </a:rPr>
              <a:t>low student participation</a:t>
            </a:r>
            <a:r>
              <a:rPr lang="en-US" sz="20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Lack of </a:t>
            </a:r>
            <a:r>
              <a:rPr lang="en-US" sz="2000" b="1" dirty="0">
                <a:latin typeface="Times New Roman" panose="02020603050405020304" pitchFamily="18" charset="0"/>
                <a:cs typeface="Times New Roman" panose="02020603050405020304" pitchFamily="18" charset="0"/>
              </a:rPr>
              <a:t>practice-oriented learning</a:t>
            </a:r>
            <a:r>
              <a:rPr lang="en-US" sz="2000" dirty="0">
                <a:latin typeface="Times New Roman" panose="02020603050405020304" pitchFamily="18" charset="0"/>
                <a:cs typeface="Times New Roman" panose="02020603050405020304" pitchFamily="18" charset="0"/>
              </a:rPr>
              <a:t> such as quizzes or simulations.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No system to </a:t>
            </a:r>
            <a:r>
              <a:rPr lang="en-US" sz="2000" b="1" dirty="0">
                <a:latin typeface="Times New Roman" panose="02020603050405020304" pitchFamily="18" charset="0"/>
                <a:cs typeface="Times New Roman" panose="02020603050405020304" pitchFamily="18" charset="0"/>
              </a:rPr>
              <a:t>track learning progress or preparedness level</a:t>
            </a:r>
            <a:r>
              <a:rPr lang="en-US" sz="2000" dirty="0">
                <a:latin typeface="Times New Roman" panose="02020603050405020304" pitchFamily="18" charset="0"/>
                <a:cs typeface="Times New Roman" panose="02020603050405020304" pitchFamily="18" charset="0"/>
              </a:rPr>
              <a:t> of students.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Information is often </a:t>
            </a:r>
            <a:r>
              <a:rPr lang="en-US" sz="2000" b="1" dirty="0">
                <a:latin typeface="Times New Roman" panose="02020603050405020304" pitchFamily="18" charset="0"/>
                <a:cs typeface="Times New Roman" panose="02020603050405020304" pitchFamily="18" charset="0"/>
              </a:rPr>
              <a:t>complex and hard to understand</a:t>
            </a:r>
            <a:r>
              <a:rPr lang="en-US" sz="2000" dirty="0">
                <a:latin typeface="Times New Roman" panose="02020603050405020304" pitchFamily="18" charset="0"/>
                <a:cs typeface="Times New Roman" panose="02020603050405020304" pitchFamily="18" charset="0"/>
              </a:rPr>
              <a:t> for students.</a:t>
            </a:r>
            <a:endParaRPr lang="en-IN" sz="2000" b="1" dirty="0">
              <a:latin typeface="Times New Roman" panose="02020603050405020304" pitchFamily="18" charset="0"/>
              <a:cs typeface="Times New Roman" panose="02020603050405020304" pitchFamily="18" charset="0"/>
            </a:endParaRPr>
          </a:p>
          <a:p>
            <a:pPr marL="152400" indent="0" algn="just">
              <a:spcBef>
                <a:spcPts val="0"/>
              </a:spcBef>
              <a:buSzPct val="10000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3942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E362B-0157-4541-FEAC-A49C4F09420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Architecture Diagram</a:t>
            </a:r>
            <a:endParaRPr lang="en-IN" dirty="0"/>
          </a:p>
        </p:txBody>
      </p:sp>
      <p:sp>
        <p:nvSpPr>
          <p:cNvPr id="3" name="Text Placeholder 2">
            <a:extLst>
              <a:ext uri="{FF2B5EF4-FFF2-40B4-BE49-F238E27FC236}">
                <a16:creationId xmlns:a16="http://schemas.microsoft.com/office/drawing/2014/main" id="{81FA0810-C5E3-1A73-F9BB-86932AD0251D}"/>
              </a:ext>
            </a:extLst>
          </p:cNvPr>
          <p:cNvSpPr>
            <a:spLocks noGrp="1"/>
          </p:cNvSpPr>
          <p:nvPr>
            <p:ph type="body" idx="1"/>
          </p:nvPr>
        </p:nvSpPr>
        <p:spPr/>
        <p:txBody>
          <a:bodyPr/>
          <a:lstStyle/>
          <a:p>
            <a:pPr marL="76200" indent="0">
              <a:buNone/>
            </a:pPr>
            <a:r>
              <a:rPr lang="en-US" dirty="0"/>
              <a:t> </a:t>
            </a:r>
            <a:endParaRPr lang="en-IN" dirty="0"/>
          </a:p>
        </p:txBody>
      </p:sp>
      <p:pic>
        <p:nvPicPr>
          <p:cNvPr id="5" name="Picture 4">
            <a:extLst>
              <a:ext uri="{FF2B5EF4-FFF2-40B4-BE49-F238E27FC236}">
                <a16:creationId xmlns:a16="http://schemas.microsoft.com/office/drawing/2014/main" id="{B43134B9-3909-6840-61C6-F97B14987524}"/>
              </a:ext>
            </a:extLst>
          </p:cNvPr>
          <p:cNvPicPr>
            <a:picLocks noChangeAspect="1"/>
          </p:cNvPicPr>
          <p:nvPr/>
        </p:nvPicPr>
        <p:blipFill>
          <a:blip r:embed="rId2"/>
          <a:stretch>
            <a:fillRect/>
          </a:stretch>
        </p:blipFill>
        <p:spPr>
          <a:xfrm>
            <a:off x="1263535" y="1143001"/>
            <a:ext cx="9975271" cy="4657437"/>
          </a:xfrm>
          <a:prstGeom prst="rect">
            <a:avLst/>
          </a:prstGeom>
        </p:spPr>
      </p:pic>
    </p:spTree>
    <p:extLst>
      <p:ext uri="{BB962C8B-B14F-4D97-AF65-F5344CB8AC3E}">
        <p14:creationId xmlns:p14="http://schemas.microsoft.com/office/powerpoint/2010/main" val="2060865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CC76D0A1-D23F-7EB1-D5E7-84DED2D4377C}"/>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BA685D4F-442E-2390-F090-13DB7D2AE50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Algorithm Details</a:t>
            </a:r>
          </a:p>
        </p:txBody>
      </p:sp>
      <p:sp>
        <p:nvSpPr>
          <p:cNvPr id="115" name="Google Shape;115;p17">
            <a:extLst>
              <a:ext uri="{FF2B5EF4-FFF2-40B4-BE49-F238E27FC236}">
                <a16:creationId xmlns:a16="http://schemas.microsoft.com/office/drawing/2014/main" id="{D94BA9DB-507C-0FDF-6463-CDD34297A2BE}"/>
              </a:ext>
            </a:extLst>
          </p:cNvPr>
          <p:cNvSpPr txBox="1">
            <a:spLocks noGrp="1"/>
          </p:cNvSpPr>
          <p:nvPr>
            <p:ph type="body" idx="1"/>
          </p:nvPr>
        </p:nvSpPr>
        <p:spPr>
          <a:xfrm>
            <a:off x="812800" y="696686"/>
            <a:ext cx="10668000" cy="5399314"/>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SzPct val="100000"/>
              <a:buNone/>
            </a:pPr>
            <a:endParaRPr lang="en-IN" sz="2000" dirty="0">
              <a:solidFill>
                <a:srgbClr val="002060"/>
              </a:solidFill>
              <a:latin typeface="Times New Roman" panose="02020603050405020304" pitchFamily="18" charset="0"/>
              <a:cs typeface="Times New Roman" panose="02020603050405020304" pitchFamily="18" charset="0"/>
            </a:endParaRPr>
          </a:p>
          <a:p>
            <a:pPr marL="152400" indent="0" algn="just">
              <a:spcBef>
                <a:spcPts val="0"/>
              </a:spcBef>
              <a:buSzPct val="100000"/>
              <a:buNone/>
            </a:pPr>
            <a:r>
              <a:rPr lang="en-IN" sz="2000" b="1" dirty="0">
                <a:latin typeface="Times New Roman" panose="02020603050405020304" pitchFamily="18" charset="0"/>
                <a:cs typeface="Times New Roman" panose="02020603050405020304" pitchFamily="18" charset="0"/>
              </a:rPr>
              <a:t>1. JWT – Based Authentication –</a:t>
            </a:r>
            <a:endParaRPr lang="en-IN" sz="2000" dirty="0">
              <a:latin typeface="Times New Roman" panose="02020603050405020304" pitchFamily="18" charset="0"/>
              <a:cs typeface="Times New Roman" panose="02020603050405020304" pitchFamily="18" charset="0"/>
            </a:endParaRPr>
          </a:p>
          <a:p>
            <a:pPr marL="495300" indent="-342900" algn="just">
              <a:spcBef>
                <a:spcPts val="0"/>
              </a:spcBef>
              <a:buSzPct val="100000"/>
            </a:pPr>
            <a:r>
              <a:rPr lang="en-IN" sz="2000" dirty="0">
                <a:latin typeface="Times New Roman" panose="02020603050405020304" pitchFamily="18" charset="0"/>
                <a:cs typeface="Times New Roman" panose="02020603050405020304" pitchFamily="18" charset="0"/>
              </a:rPr>
              <a:t>Implement JSON Web Token (JWT) for secure user authentication.</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Generates a token after login which verifies user identity for protected routes without storing session data.</a:t>
            </a:r>
            <a:r>
              <a:rPr lang="en-IN" sz="2000" dirty="0">
                <a:latin typeface="Times New Roman" panose="02020603050405020304" pitchFamily="18" charset="0"/>
                <a:cs typeface="Times New Roman" panose="02020603050405020304" pitchFamily="18" charset="0"/>
              </a:rPr>
              <a:t> </a:t>
            </a:r>
          </a:p>
          <a:p>
            <a:pPr marL="152400" indent="0" algn="just">
              <a:spcBef>
                <a:spcPts val="0"/>
              </a:spcBef>
              <a:buSzPct val="100000"/>
              <a:buNone/>
            </a:pPr>
            <a:r>
              <a:rPr lang="en-IN" sz="2000" b="1" dirty="0">
                <a:latin typeface="Times New Roman" panose="02020603050405020304" pitchFamily="18" charset="0"/>
                <a:cs typeface="Times New Roman" panose="02020603050405020304" pitchFamily="18" charset="0"/>
              </a:rPr>
              <a:t>2. Bcrypt Password hashing </a:t>
            </a:r>
            <a:r>
              <a:rPr lang="en-IN" sz="20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r>
              <a:rPr lang="en-IN" sz="2000" dirty="0">
                <a:latin typeface="Times New Roman" panose="02020603050405020304" pitchFamily="18" charset="0"/>
                <a:cs typeface="Times New Roman" panose="02020603050405020304" pitchFamily="18" charset="0"/>
              </a:rPr>
              <a:t>Uses bcrypt algorithm to securely hash user passwords before storing them in the database.</a:t>
            </a:r>
          </a:p>
          <a:p>
            <a:pPr marL="495300" indent="-342900" algn="just">
              <a:spcBef>
                <a:spcPts val="0"/>
              </a:spcBef>
              <a:buSzPct val="100000"/>
            </a:pPr>
            <a:r>
              <a:rPr lang="en-IN" sz="2000" dirty="0">
                <a:latin typeface="Times New Roman" panose="02020603050405020304" pitchFamily="18" charset="0"/>
                <a:cs typeface="Times New Roman" panose="02020603050405020304" pitchFamily="18" charset="0"/>
              </a:rPr>
              <a:t>Protects user credentials by preventing plain text password storage and making them resistant to brute-force attacks.</a:t>
            </a:r>
          </a:p>
          <a:p>
            <a:pPr marL="152400" indent="0" algn="just">
              <a:spcBef>
                <a:spcPts val="0"/>
              </a:spcBef>
              <a:buSzPct val="100000"/>
              <a:buNone/>
            </a:pPr>
            <a:r>
              <a:rPr lang="en-IN" sz="2000" b="1" dirty="0">
                <a:latin typeface="Times New Roman" panose="02020603050405020304" pitchFamily="18" charset="0"/>
                <a:cs typeface="Times New Roman" panose="02020603050405020304" pitchFamily="18" charset="0"/>
              </a:rPr>
              <a:t>3. Decision-Tree based Risk Assessment –</a:t>
            </a:r>
            <a:endParaRPr lang="en-IN" sz="2000" dirty="0">
              <a:latin typeface="Times New Roman" panose="02020603050405020304" pitchFamily="18" charset="0"/>
              <a:cs typeface="Times New Roman" panose="02020603050405020304" pitchFamily="18" charset="0"/>
            </a:endParaRP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Implemented a decision-tree classification approach to categorize students into different risk levels.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Determines whether a student is Low Risk, Medium Risk, or High Risk based on quiz scores and preparedness indicators.</a:t>
            </a:r>
          </a:p>
          <a:p>
            <a:pPr marL="152400" indent="0" algn="just">
              <a:spcBef>
                <a:spcPts val="0"/>
              </a:spcBef>
              <a:buSzPct val="100000"/>
              <a:buNone/>
            </a:pPr>
            <a:r>
              <a:rPr lang="en-US" sz="2000" b="1" dirty="0">
                <a:latin typeface="Times New Roman" panose="02020603050405020304" pitchFamily="18" charset="0"/>
                <a:cs typeface="Times New Roman" panose="02020603050405020304" pitchFamily="18" charset="0"/>
              </a:rPr>
              <a:t>4. Role Based Access Control(RBAC) </a:t>
            </a:r>
            <a:r>
              <a:rPr lang="en-US" sz="20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Different permissions are assigned to Students and Admins, ensuring secure and controlled route access.</a:t>
            </a:r>
          </a:p>
          <a:p>
            <a:pPr marL="152400" indent="0" algn="just">
              <a:spcBef>
                <a:spcPts val="0"/>
              </a:spcBef>
              <a:buSzPct val="10000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8339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8C07D53-651B-4D84-1F4E-A35C290262C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BFC7531F-AE4D-B7E2-4095-38ACFF898C0B}"/>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Technology Stack</a:t>
            </a:r>
          </a:p>
        </p:txBody>
      </p:sp>
      <p:sp>
        <p:nvSpPr>
          <p:cNvPr id="4" name="Text Placeholder 3">
            <a:extLst>
              <a:ext uri="{FF2B5EF4-FFF2-40B4-BE49-F238E27FC236}">
                <a16:creationId xmlns:a16="http://schemas.microsoft.com/office/drawing/2014/main" id="{0829A0FF-72B9-599F-CC6E-5217C4C971E6}"/>
              </a:ext>
            </a:extLst>
          </p:cNvPr>
          <p:cNvSpPr>
            <a:spLocks noGrp="1" noChangeArrowheads="1"/>
          </p:cNvSpPr>
          <p:nvPr>
            <p:ph type="body" idx="1"/>
          </p:nvPr>
        </p:nvSpPr>
        <p:spPr bwMode="auto">
          <a:xfrm>
            <a:off x="812799" y="1119350"/>
            <a:ext cx="1066799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spcBef>
                <a:spcPct val="0"/>
              </a:spcBef>
              <a:spcAft>
                <a:spcPct val="0"/>
              </a:spcAft>
              <a:buClrTx/>
              <a:buSzTx/>
              <a:buNone/>
            </a:pPr>
            <a:r>
              <a:rPr lang="en-US" altLang="en-US" sz="2000" b="1" dirty="0">
                <a:solidFill>
                  <a:schemeClr val="tx1"/>
                </a:solidFill>
                <a:latin typeface="Times New Roman" panose="02020603050405020304" pitchFamily="18" charset="0"/>
                <a:cs typeface="Times New Roman" panose="02020603050405020304" pitchFamily="18" charset="0"/>
              </a:rPr>
              <a:t>Frontend: </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React.js (Vite) </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CSS</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GSAP ( Green Sock Animation Platform) animations</a:t>
            </a:r>
          </a:p>
          <a:p>
            <a:pPr marL="0" indent="0" algn="just" eaLnBrk="0" fontAlgn="base" hangingPunct="0">
              <a:spcBef>
                <a:spcPct val="0"/>
              </a:spcBef>
              <a:spcAft>
                <a:spcPct val="0"/>
              </a:spcAft>
              <a:buClrTx/>
              <a:buSzTx/>
              <a:buNone/>
            </a:pPr>
            <a:r>
              <a:rPr lang="en-US" altLang="en-US" sz="2000" b="1" dirty="0">
                <a:solidFill>
                  <a:schemeClr val="tx1"/>
                </a:solidFill>
                <a:latin typeface="Times New Roman" panose="02020603050405020304" pitchFamily="18" charset="0"/>
                <a:cs typeface="Times New Roman" panose="02020603050405020304" pitchFamily="18" charset="0"/>
              </a:rPr>
              <a:t>Backend:</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Node.js</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Express.js</a:t>
            </a:r>
          </a:p>
          <a:p>
            <a:pPr marL="0" indent="0" algn="just" eaLnBrk="0" fontAlgn="base" hangingPunct="0">
              <a:spcBef>
                <a:spcPct val="0"/>
              </a:spcBef>
              <a:spcAft>
                <a:spcPct val="0"/>
              </a:spcAft>
              <a:buClrTx/>
              <a:buSzTx/>
              <a:buNone/>
            </a:pPr>
            <a:r>
              <a:rPr lang="en-US" altLang="en-US" sz="2000" b="1" dirty="0">
                <a:solidFill>
                  <a:schemeClr val="tx1"/>
                </a:solidFill>
                <a:latin typeface="Times New Roman" panose="02020603050405020304" pitchFamily="18" charset="0"/>
                <a:cs typeface="Times New Roman" panose="02020603050405020304" pitchFamily="18" charset="0"/>
              </a:rPr>
              <a:t>Database:</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Mongo DB</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Docker</a:t>
            </a:r>
          </a:p>
          <a:p>
            <a:pPr marL="0" indent="0" algn="just" eaLnBrk="0" fontAlgn="base" hangingPunct="0">
              <a:spcBef>
                <a:spcPct val="0"/>
              </a:spcBef>
              <a:spcAft>
                <a:spcPct val="0"/>
              </a:spcAft>
              <a:buClrTx/>
              <a:buSzTx/>
              <a:buNone/>
            </a:pPr>
            <a:r>
              <a:rPr lang="en-US" altLang="en-US" sz="2000" b="1" dirty="0">
                <a:solidFill>
                  <a:schemeClr val="tx1"/>
                </a:solidFill>
                <a:latin typeface="Times New Roman" panose="02020603050405020304" pitchFamily="18" charset="0"/>
                <a:cs typeface="Times New Roman" panose="02020603050405020304" pitchFamily="18" charset="0"/>
              </a:rPr>
              <a:t>AI:</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Open AI</a:t>
            </a:r>
          </a:p>
        </p:txBody>
      </p:sp>
    </p:spTree>
    <p:extLst>
      <p:ext uri="{BB962C8B-B14F-4D97-AF65-F5344CB8AC3E}">
        <p14:creationId xmlns:p14="http://schemas.microsoft.com/office/powerpoint/2010/main" val="3526841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9E956D-5412-764B-6A94-F21228270195}"/>
              </a:ext>
            </a:extLst>
          </p:cNvPr>
          <p:cNvSpPr txBox="1"/>
          <p:nvPr/>
        </p:nvSpPr>
        <p:spPr>
          <a:xfrm>
            <a:off x="757084" y="350349"/>
            <a:ext cx="8278761" cy="584775"/>
          </a:xfrm>
          <a:prstGeom prst="rect">
            <a:avLst/>
          </a:prstGeom>
          <a:noFill/>
        </p:spPr>
        <p:txBody>
          <a:bodyPr wrap="square" rtlCol="0">
            <a:spAutoFit/>
          </a:bodyPr>
          <a:lstStyle/>
          <a:p>
            <a:r>
              <a:rPr lang="en-US" sz="32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GitHub Link </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8EE4910-6E32-85E4-A52C-F9CF9F04D0E8}"/>
              </a:ext>
            </a:extLst>
          </p:cNvPr>
          <p:cNvSpPr txBox="1"/>
          <p:nvPr/>
        </p:nvSpPr>
        <p:spPr>
          <a:xfrm rot="10800000" flipH="1" flipV="1">
            <a:off x="757084" y="1325301"/>
            <a:ext cx="9183204" cy="400110"/>
          </a:xfrm>
          <a:prstGeom prst="rect">
            <a:avLst/>
          </a:prstGeom>
          <a:noFill/>
        </p:spPr>
        <p:txBody>
          <a:bodyPr wrap="square" rtlCol="0">
            <a:spAutoFit/>
          </a:bodyPr>
          <a:lstStyle/>
          <a:p>
            <a:pPr marL="76200" indent="0" algn="just">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 </a:t>
            </a:r>
            <a:r>
              <a:rPr lang="en-US" sz="2000" dirty="0">
                <a:latin typeface="Times New Roman" panose="02020603050405020304" pitchFamily="18" charset="0"/>
                <a:ea typeface="Cambria" panose="02040503050406030204" pitchFamily="18" charset="0"/>
                <a:cs typeface="Times New Roman" panose="02020603050405020304" pitchFamily="18" charset="0"/>
                <a:hlinkClick r:id="rId2"/>
              </a:rPr>
              <a:t>https://github.com/vishnu090705/Disaster-awareness-Response-portal-</a:t>
            </a:r>
            <a:r>
              <a:rPr lang="en-US" sz="2000" dirty="0">
                <a:latin typeface="Times New Roman" panose="02020603050405020304" pitchFamily="18" charset="0"/>
                <a:ea typeface="Cambria" panose="02040503050406030204" pitchFamily="18" charset="0"/>
                <a:cs typeface="Times New Roman" panose="02020603050405020304" pitchFamily="18" charset="0"/>
              </a:rPr>
              <a:t> “</a:t>
            </a:r>
          </a:p>
        </p:txBody>
      </p:sp>
    </p:spTree>
    <p:extLst>
      <p:ext uri="{BB962C8B-B14F-4D97-AF65-F5344CB8AC3E}">
        <p14:creationId xmlns:p14="http://schemas.microsoft.com/office/powerpoint/2010/main" val="1191090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Times New Roman" panose="02020603050405020304" pitchFamily="18" charset="0"/>
                <a:ea typeface="Cambria" panose="02040503050406030204" pitchFamily="18" charset="0"/>
                <a:cs typeface="Times New Roman" panose="02020603050405020304" pitchFamily="18" charset="0"/>
              </a:rPr>
              <a:t>Timeline of the Project (Gantt Chart)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901274F-D9D1-AC36-D890-EB382FAD0C8B}"/>
              </a:ext>
            </a:extLst>
          </p:cNvPr>
          <p:cNvPicPr>
            <a:picLocks noChangeAspect="1"/>
          </p:cNvPicPr>
          <p:nvPr/>
        </p:nvPicPr>
        <p:blipFill>
          <a:blip r:embed="rId3"/>
          <a:stretch>
            <a:fillRect/>
          </a:stretch>
        </p:blipFill>
        <p:spPr>
          <a:xfrm>
            <a:off x="230155" y="1984310"/>
            <a:ext cx="10960359" cy="3943058"/>
          </a:xfrm>
          <a:prstGeom prst="rect">
            <a:avLst/>
          </a:prstGeom>
        </p:spPr>
      </p:pic>
      <p:sp>
        <p:nvSpPr>
          <p:cNvPr id="4" name="TextBox 3">
            <a:extLst>
              <a:ext uri="{FF2B5EF4-FFF2-40B4-BE49-F238E27FC236}">
                <a16:creationId xmlns:a16="http://schemas.microsoft.com/office/drawing/2014/main" id="{3F3E1D14-E0CE-B03F-4812-C3665D1F5EA5}"/>
              </a:ext>
            </a:extLst>
          </p:cNvPr>
          <p:cNvSpPr txBox="1"/>
          <p:nvPr/>
        </p:nvSpPr>
        <p:spPr>
          <a:xfrm>
            <a:off x="3309257" y="1454574"/>
            <a:ext cx="5617029"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Disaster Awareness and Response Portal</a:t>
            </a:r>
            <a:endParaRPr lang="en-IN" sz="2000" dirty="0"/>
          </a:p>
        </p:txBody>
      </p:sp>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152400" indent="0" algn="just">
              <a:spcBef>
                <a:spcPts val="0"/>
              </a:spcBef>
              <a:buNone/>
            </a:pPr>
            <a:r>
              <a:rPr lang="en-US" sz="1900" cap="small" dirty="0">
                <a:latin typeface="Times New Roman" panose="02020603050405020304" pitchFamily="18" charset="0"/>
                <a:cs typeface="Times New Roman" panose="02020603050405020304" pitchFamily="18" charset="0"/>
              </a:rPr>
              <a:t>[1]National Disaster Management Authority (NDMA), National Disaster Management Guidelines, Government of India, New Delhi, India, 2019. [Online]. Available: </a:t>
            </a:r>
            <a:r>
              <a:rPr lang="en-US" sz="1900" u="sng" cap="small" dirty="0">
                <a:latin typeface="Times New Roman" panose="02020603050405020304" pitchFamily="18" charset="0"/>
                <a:cs typeface="Times New Roman" panose="02020603050405020304" pitchFamily="18" charset="0"/>
                <a:hlinkClick r:id="rId3"/>
              </a:rPr>
              <a:t>https://ndma.gov.in</a:t>
            </a:r>
            <a:endParaRPr lang="en-IN" sz="1900" cap="small" dirty="0">
              <a:latin typeface="Times New Roman" panose="02020603050405020304" pitchFamily="18" charset="0"/>
              <a:cs typeface="Times New Roman" panose="02020603050405020304" pitchFamily="18" charset="0"/>
            </a:endParaRPr>
          </a:p>
          <a:p>
            <a:pPr marL="152400" indent="0" algn="just">
              <a:spcBef>
                <a:spcPts val="0"/>
              </a:spcBef>
              <a:buNone/>
            </a:pPr>
            <a:endParaRPr lang="en-US" sz="1900" dirty="0">
              <a:latin typeface="Times New Roman" panose="02020603050405020304" pitchFamily="18" charset="0"/>
              <a:cs typeface="Times New Roman" panose="02020603050405020304" pitchFamily="18" charset="0"/>
            </a:endParaRPr>
          </a:p>
          <a:p>
            <a:pPr marL="152400" indent="0" algn="just">
              <a:spcBef>
                <a:spcPts val="0"/>
              </a:spcBef>
              <a:buNone/>
            </a:pPr>
            <a:r>
              <a:rPr lang="en-US" sz="1900" dirty="0">
                <a:latin typeface="Times New Roman" panose="02020603050405020304" pitchFamily="18" charset="0"/>
                <a:ea typeface="Cambria" panose="02040503050406030204" pitchFamily="18" charset="0"/>
                <a:cs typeface="Times New Roman" panose="02020603050405020304" pitchFamily="18" charset="0"/>
              </a:rPr>
              <a:t>[2] </a:t>
            </a:r>
            <a:r>
              <a:rPr lang="en-US" sz="1900" dirty="0">
                <a:latin typeface="Times New Roman" panose="02020603050405020304" pitchFamily="18" charset="0"/>
                <a:cs typeface="Times New Roman" panose="02020603050405020304" pitchFamily="18" charset="0"/>
              </a:rPr>
              <a:t>United Nations Office for Disaster Risk Reduction (UNDRR), Sendai Framework for Disaster Risk Reduction 2015–2030, United Nations, Geneva, Switzerland, 2015. [Online]. Available: </a:t>
            </a:r>
            <a:r>
              <a:rPr lang="en-US" sz="1900" u="sng" dirty="0">
                <a:latin typeface="Times New Roman" panose="02020603050405020304" pitchFamily="18" charset="0"/>
                <a:cs typeface="Times New Roman" panose="02020603050405020304" pitchFamily="18" charset="0"/>
                <a:hlinkClick r:id="rId4"/>
              </a:rPr>
              <a:t>https://www.undrr.org</a:t>
            </a:r>
            <a:endParaRPr lang="en-US" sz="1900" u="sng" dirty="0">
              <a:latin typeface="Times New Roman" panose="02020603050405020304" pitchFamily="18" charset="0"/>
              <a:cs typeface="Times New Roman" panose="02020603050405020304" pitchFamily="18" charset="0"/>
            </a:endParaRPr>
          </a:p>
          <a:p>
            <a:pPr marL="152400" indent="0" algn="just">
              <a:spcBef>
                <a:spcPts val="0"/>
              </a:spcBef>
              <a:buNone/>
            </a:pPr>
            <a:endParaRPr lang="en-US" sz="1900" dirty="0">
              <a:latin typeface="Times New Roman" panose="02020603050405020304" pitchFamily="18" charset="0"/>
              <a:cs typeface="Times New Roman" panose="02020603050405020304" pitchFamily="18" charset="0"/>
            </a:endParaRPr>
          </a:p>
          <a:p>
            <a:pPr marL="152400" indent="0" algn="just">
              <a:spcBef>
                <a:spcPts val="0"/>
              </a:spcBef>
              <a:buNone/>
            </a:pPr>
            <a:r>
              <a:rPr lang="en-US" sz="1900" dirty="0">
                <a:latin typeface="Times New Roman" panose="02020603050405020304" pitchFamily="18" charset="0"/>
                <a:ea typeface="Cambria" panose="02040503050406030204" pitchFamily="18" charset="0"/>
                <a:cs typeface="Times New Roman" panose="02020603050405020304" pitchFamily="18" charset="0"/>
              </a:rPr>
              <a:t>[3] </a:t>
            </a:r>
            <a:r>
              <a:rPr lang="en-US" sz="1900" dirty="0">
                <a:latin typeface="Times New Roman" panose="02020603050405020304" pitchFamily="18" charset="0"/>
                <a:cs typeface="Times New Roman" panose="02020603050405020304" pitchFamily="18" charset="0"/>
              </a:rPr>
              <a:t>Ready.gov, Emergency Preparedness and Response Guidelines, U.S. Department of Homeland Security, Washington, DC, USA, 2023. [Online]. Available: </a:t>
            </a:r>
            <a:r>
              <a:rPr lang="en-US" sz="1900" u="sng" dirty="0">
                <a:latin typeface="Times New Roman" panose="02020603050405020304" pitchFamily="18" charset="0"/>
                <a:cs typeface="Times New Roman" panose="02020603050405020304" pitchFamily="18" charset="0"/>
                <a:hlinkClick r:id="rId5"/>
              </a:rPr>
              <a:t>https://www.ready.gov</a:t>
            </a:r>
            <a:r>
              <a:rPr lang="en-US" sz="1900" dirty="0">
                <a:latin typeface="Times New Roman" panose="02020603050405020304" pitchFamily="18" charset="0"/>
                <a:cs typeface="Times New Roman" panose="02020603050405020304" pitchFamily="18" charset="0"/>
              </a:rPr>
              <a:t> </a:t>
            </a:r>
          </a:p>
          <a:p>
            <a:pPr marL="152400" indent="0" algn="just">
              <a:spcBef>
                <a:spcPts val="0"/>
              </a:spcBef>
              <a:buNone/>
            </a:pPr>
            <a:endParaRPr lang="en-US" sz="1900" dirty="0">
              <a:latin typeface="Times New Roman" panose="02020603050405020304" pitchFamily="18" charset="0"/>
              <a:cs typeface="Times New Roman" panose="02020603050405020304" pitchFamily="18" charset="0"/>
            </a:endParaRPr>
          </a:p>
          <a:p>
            <a:pPr marL="152400" indent="0" algn="just">
              <a:spcBef>
                <a:spcPts val="0"/>
              </a:spcBef>
              <a:buNone/>
            </a:pPr>
            <a:r>
              <a:rPr lang="en-US" sz="1900" dirty="0">
                <a:latin typeface="Times New Roman" panose="02020603050405020304" pitchFamily="18" charset="0"/>
                <a:ea typeface="Cambria" panose="02040503050406030204" pitchFamily="18" charset="0"/>
                <a:cs typeface="Times New Roman" panose="02020603050405020304" pitchFamily="18" charset="0"/>
              </a:rPr>
              <a:t>[4] </a:t>
            </a:r>
            <a:r>
              <a:rPr lang="en-US" sz="1900" dirty="0">
                <a:latin typeface="Times New Roman" panose="02020603050405020304" pitchFamily="18" charset="0"/>
                <a:cs typeface="Times New Roman" panose="02020603050405020304" pitchFamily="18" charset="0"/>
              </a:rPr>
              <a:t>National Disaster Response Force (NDRF), Disaster Response Training and Awareness Materials, Ministry of Home Affairs, Government of India, New Delhi, India, 2022. [Online]. Available: </a:t>
            </a:r>
            <a:r>
              <a:rPr lang="en-US" sz="1900" u="sng" dirty="0">
                <a:latin typeface="Times New Roman" panose="02020603050405020304" pitchFamily="18" charset="0"/>
                <a:cs typeface="Times New Roman" panose="02020603050405020304" pitchFamily="18" charset="0"/>
                <a:hlinkClick r:id="rId6"/>
              </a:rPr>
              <a:t>https://ndrf.gov.in</a:t>
            </a:r>
            <a:r>
              <a:rPr lang="en-US" sz="1900" dirty="0">
                <a:latin typeface="Times New Roman" panose="02020603050405020304" pitchFamily="18" charset="0"/>
                <a:cs typeface="Times New Roman" panose="02020603050405020304" pitchFamily="18" charset="0"/>
              </a:rPr>
              <a:t> </a:t>
            </a:r>
          </a:p>
          <a:p>
            <a:pPr marL="152400" indent="0" algn="just">
              <a:spcBef>
                <a:spcPts val="0"/>
              </a:spcBef>
              <a:buNone/>
            </a:pPr>
            <a:endParaRPr lang="en-US" sz="19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lgn="just">
              <a:spcBef>
                <a:spcPts val="0"/>
              </a:spcBef>
              <a:buNone/>
            </a:pPr>
            <a:r>
              <a:rPr lang="en-US" sz="1900" dirty="0">
                <a:latin typeface="Times New Roman" panose="02020603050405020304" pitchFamily="18" charset="0"/>
                <a:cs typeface="Times New Roman" panose="02020603050405020304" pitchFamily="18" charset="0"/>
              </a:rPr>
              <a:t>[5]United Nations Children’s Fund (UNICEF), Disaster Risk Reduction in Education, UNICEF Publications, New York, USA, 2021. [Online]. Available: </a:t>
            </a:r>
            <a:r>
              <a:rPr lang="en-US" sz="1900" u="sng" dirty="0">
                <a:latin typeface="Times New Roman" panose="02020603050405020304" pitchFamily="18" charset="0"/>
                <a:cs typeface="Times New Roman" panose="02020603050405020304" pitchFamily="18" charset="0"/>
                <a:hlinkClick r:id="rId7"/>
              </a:rPr>
              <a:t>https://www.unicef.org/disaster-risk-reduction</a:t>
            </a:r>
            <a:endParaRPr lang="en-US" sz="19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923</TotalTime>
  <Words>900</Words>
  <Application>Microsoft Office PowerPoint</Application>
  <PresentationFormat>Widescreen</PresentationFormat>
  <Paragraphs>101</Paragraphs>
  <Slides>12</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Cambria</vt:lpstr>
      <vt:lpstr>Times New Roman</vt:lpstr>
      <vt:lpstr>Verdana</vt:lpstr>
      <vt:lpstr>Wingdings</vt:lpstr>
      <vt:lpstr>Bioinformatics</vt:lpstr>
      <vt:lpstr>Disaster preparedness and Response Education System for Schools and Colleges. (Disaster Awareness and Response Portal)</vt:lpstr>
      <vt:lpstr>Problem Statement Number: SHI25008</vt:lpstr>
      <vt:lpstr>Content</vt:lpstr>
      <vt:lpstr> Objectives </vt:lpstr>
      <vt:lpstr> Existing &amp; Drawbacks of existing Methods</vt:lpstr>
      <vt:lpstr>Architecture Diagram</vt:lpstr>
      <vt:lpstr>Algorithm Details</vt:lpstr>
      <vt:lpstr>Technology Stack</vt:lpstr>
      <vt:lpstr>PowerPoint Presentation</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Vishnu Vardhan</cp:lastModifiedBy>
  <cp:revision>64</cp:revision>
  <dcterms:modified xsi:type="dcterms:W3CDTF">2026-04-08T04:10:55Z</dcterms:modified>
</cp:coreProperties>
</file>