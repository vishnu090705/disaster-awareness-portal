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1"/>
  </p:notesMasterIdLst>
  <p:sldIdLst>
    <p:sldId id="256" r:id="rId2"/>
    <p:sldId id="269" r:id="rId3"/>
    <p:sldId id="274" r:id="rId4"/>
    <p:sldId id="257" r:id="rId5"/>
    <p:sldId id="273" r:id="rId6"/>
    <p:sldId id="275" r:id="rId7"/>
    <p:sldId id="272" r:id="rId8"/>
    <p:sldId id="265" r:id="rId9"/>
    <p:sldId id="266" r:id="rId1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8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248305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0436789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8124313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txBody>
          <a:bodyPr/>
          <a:lstStyle/>
          <a:p>
            <a:endParaRPr lang="en-IN"/>
          </a:p>
        </p:txBody>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github.com/vishnu090705/Disaster-awareness-Response-portal-"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542300"/>
            <a:ext cx="10363200" cy="503052"/>
          </a:xfrm>
          <a:prstGeom prst="rect">
            <a:avLst/>
          </a:prstGeom>
          <a:noFill/>
          <a:ln>
            <a:noFill/>
          </a:ln>
        </p:spPr>
        <p:txBody>
          <a:bodyPr spcFirstLastPara="1" wrap="square" lIns="91425" tIns="45700" rIns="91425" bIns="45700" anchor="ctr" anchorCtr="0">
            <a:noAutofit/>
          </a:bodyPr>
          <a:lstStyle/>
          <a:p>
            <a:pPr algn="ctr"/>
            <a:r>
              <a:rPr lang="en-US" sz="2400" dirty="0">
                <a:latin typeface="Times New Roman" panose="02020603050405020304" pitchFamily="18" charset="0"/>
                <a:cs typeface="Times New Roman" panose="02020603050405020304" pitchFamily="18" charset="0"/>
              </a:rPr>
              <a:t>Disaster preparedness and Response Education System for Schools and Colleges. (Disaster Awareness and Response Portal)</a:t>
            </a:r>
            <a:br>
              <a:rPr lang="en-US" dirty="0"/>
            </a:br>
            <a:endParaRPr dirty="0"/>
          </a:p>
          <a:p>
            <a:endParaRPr dirty="0"/>
          </a:p>
        </p:txBody>
      </p:sp>
      <p:sp>
        <p:nvSpPr>
          <p:cNvPr id="88" name="Google Shape;88;p13"/>
          <p:cNvSpPr txBox="1">
            <a:spLocks noGrp="1"/>
          </p:cNvSpPr>
          <p:nvPr>
            <p:ph type="subTitle" idx="1"/>
          </p:nvPr>
        </p:nvSpPr>
        <p:spPr>
          <a:xfrm>
            <a:off x="790467" y="2045352"/>
            <a:ext cx="2985373" cy="35100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17365D"/>
              </a:buClr>
              <a:buSzPts val="2000"/>
              <a:buNone/>
            </a:pPr>
            <a:r>
              <a:rPr lang="en-GB" dirty="0">
                <a:latin typeface="Times New Roman" panose="02020603050405020304" pitchFamily="18" charset="0"/>
                <a:ea typeface="Cambria" panose="02040503050406030204" pitchFamily="18" charset="0"/>
                <a:cs typeface="Times New Roman" panose="02020603050405020304" pitchFamily="18" charset="0"/>
              </a:rPr>
              <a:t>Batch Number: CSE_119</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20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rPr>
              <a:t>Under the Supervision of,</a:t>
            </a:r>
          </a:p>
          <a:p>
            <a:pPr marL="0" marR="0" lvl="0" indent="0" algn="ctr" rtl="0">
              <a:spcBef>
                <a:spcPts val="340"/>
              </a:spcBef>
              <a:spcAft>
                <a:spcPts val="0"/>
              </a:spcAft>
              <a:buClr>
                <a:srgbClr val="17365D"/>
              </a:buClr>
              <a:buSzPts val="1700"/>
              <a:buFont typeface="Arial"/>
              <a:buNone/>
            </a:pPr>
            <a:r>
              <a:rPr lang="en-GB" sz="2000" b="1" i="0" u="none" strike="noStrike" cap="none" dirty="0">
                <a:solidFill>
                  <a:schemeClr val="accent1">
                    <a:lumMod val="50000"/>
                  </a:schemeClr>
                </a:solidFill>
                <a:latin typeface="Times New Roman" panose="02020603050405020304" pitchFamily="18" charset="0"/>
                <a:ea typeface="Cambria" panose="02040503050406030204" pitchFamily="18" charset="0"/>
                <a:cs typeface="Times New Roman" panose="02020603050405020304" pitchFamily="18" charset="0"/>
                <a:sym typeface="Verdana"/>
              </a:rPr>
              <a:t>Dr.</a:t>
            </a:r>
            <a:r>
              <a:rPr lang="en-US" sz="2000" b="1" dirty="0">
                <a:solidFill>
                  <a:schemeClr val="accent1">
                    <a:lumMod val="50000"/>
                  </a:schemeClr>
                </a:solidFill>
                <a:latin typeface="Times New Roman" panose="02020603050405020304" pitchFamily="18" charset="0"/>
                <a:ea typeface="Cambria" panose="02040503050406030204" pitchFamily="18" charset="0"/>
                <a:cs typeface="Times New Roman" panose="02020603050405020304" pitchFamily="18" charset="0"/>
                <a:sym typeface="Verdana"/>
              </a:rPr>
              <a:t>Pamela Vinitha Eric</a:t>
            </a:r>
            <a:endParaRPr sz="2000" dirty="0">
              <a:solidFill>
                <a:schemeClr val="accent1">
                  <a:lumMod val="50000"/>
                </a:schemeClr>
              </a:solidFill>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ctr" rtl="0">
              <a:spcBef>
                <a:spcPts val="340"/>
              </a:spcBef>
              <a:spcAft>
                <a:spcPts val="0"/>
              </a:spcAft>
              <a:buClr>
                <a:srgbClr val="17365D"/>
              </a:buClr>
              <a:buSzPts val="1700"/>
              <a:buFont typeface="Arial"/>
              <a:buNone/>
            </a:pPr>
            <a:r>
              <a:rPr lang="en-GB" sz="2000" b="1" i="0" u="none" strike="noStrike" cap="none" dirty="0">
                <a:solidFill>
                  <a:schemeClr val="accent1">
                    <a:lumMod val="50000"/>
                  </a:schemeClr>
                </a:solidFill>
                <a:latin typeface="Times New Roman" panose="02020603050405020304" pitchFamily="18" charset="0"/>
                <a:ea typeface="Cambria" panose="02040503050406030204" pitchFamily="18" charset="0"/>
                <a:cs typeface="Times New Roman" panose="02020603050405020304" pitchFamily="18" charset="0"/>
                <a:sym typeface="Verdana"/>
              </a:rPr>
              <a:t>Professor </a:t>
            </a:r>
            <a:endParaRPr sz="2000" dirty="0">
              <a:solidFill>
                <a:schemeClr val="accent1">
                  <a:lumMod val="50000"/>
                </a:schemeClr>
              </a:solidFill>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ctr" rtl="0">
              <a:spcBef>
                <a:spcPts val="340"/>
              </a:spcBef>
              <a:spcAft>
                <a:spcPts val="0"/>
              </a:spcAft>
              <a:buClr>
                <a:srgbClr val="17365D"/>
              </a:buClr>
              <a:buSzPts val="1700"/>
              <a:buFont typeface="Arial"/>
              <a:buNone/>
            </a:pPr>
            <a:r>
              <a:rPr lang="en-GB" sz="2000" b="1" i="0" u="none" strike="noStrike" cap="none" dirty="0">
                <a:solidFill>
                  <a:schemeClr val="accent1">
                    <a:lumMod val="50000"/>
                  </a:schemeClr>
                </a:solidFill>
                <a:latin typeface="Times New Roman" panose="02020603050405020304" pitchFamily="18" charset="0"/>
                <a:ea typeface="Cambria" panose="02040503050406030204" pitchFamily="18" charset="0"/>
                <a:cs typeface="Times New Roman" panose="02020603050405020304" pitchFamily="18" charset="0"/>
                <a:sym typeface="Verdana"/>
              </a:rPr>
              <a:t>School of Computer Science and Engineering</a:t>
            </a:r>
            <a:endParaRPr sz="2000" dirty="0">
              <a:solidFill>
                <a:schemeClr val="accent1">
                  <a:lumMod val="50000"/>
                </a:schemeClr>
              </a:solidFill>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ctr" rtl="0">
              <a:spcBef>
                <a:spcPts val="340"/>
              </a:spcBef>
              <a:spcAft>
                <a:spcPts val="0"/>
              </a:spcAft>
              <a:buClr>
                <a:srgbClr val="17365D"/>
              </a:buClr>
              <a:buSzPts val="1700"/>
              <a:buFont typeface="Arial"/>
              <a:buNone/>
            </a:pPr>
            <a:r>
              <a:rPr lang="en-GB" sz="2000" b="1" i="0" u="none" strike="noStrike" cap="none" dirty="0">
                <a:solidFill>
                  <a:schemeClr val="accent1">
                    <a:lumMod val="50000"/>
                  </a:schemeClr>
                </a:solidFill>
                <a:latin typeface="Times New Roman" panose="02020603050405020304" pitchFamily="18" charset="0"/>
                <a:ea typeface="Cambria" panose="02040503050406030204" pitchFamily="18" charset="0"/>
                <a:cs typeface="Times New Roman" panose="02020603050405020304" pitchFamily="18" charset="0"/>
                <a:sym typeface="Verdana"/>
              </a:rPr>
              <a:t>Presidency University</a:t>
            </a:r>
            <a:endParaRPr sz="2000" dirty="0">
              <a:solidFill>
                <a:schemeClr val="accent1">
                  <a:lumMod val="50000"/>
                </a:schemeClr>
              </a:solidFill>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2870336309"/>
              </p:ext>
            </p:extLst>
          </p:nvPr>
        </p:nvGraphicFramePr>
        <p:xfrm>
          <a:off x="553347" y="2721840"/>
          <a:ext cx="5418675" cy="23470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2000" b="1" u="none" strike="noStrike" cap="none" dirty="0">
                          <a:solidFill>
                            <a:srgbClr val="17365D"/>
                          </a:solidFill>
                          <a:latin typeface="Times New Roman" panose="02020603050405020304" pitchFamily="18" charset="0"/>
                          <a:cs typeface="Times New Roman" panose="02020603050405020304" pitchFamily="18" charset="0"/>
                        </a:rPr>
                        <a:t>Roll Number</a:t>
                      </a:r>
                      <a:endParaRPr sz="2000" b="1" u="none" strike="noStrike" cap="none" dirty="0">
                        <a:solidFill>
                          <a:srgbClr val="17365D"/>
                        </a:solidFill>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2000" b="1" u="none" strike="noStrike" cap="none" dirty="0">
                          <a:solidFill>
                            <a:srgbClr val="17365D"/>
                          </a:solidFill>
                          <a:latin typeface="Times New Roman" panose="02020603050405020304" pitchFamily="18" charset="0"/>
                          <a:cs typeface="Times New Roman" panose="02020603050405020304" pitchFamily="18" charset="0"/>
                        </a:rPr>
                        <a:t>Student Name</a:t>
                      </a:r>
                      <a:endParaRPr sz="2000" b="1" u="none" strike="noStrike" cap="none" dirty="0">
                        <a:solidFill>
                          <a:srgbClr val="17365D"/>
                        </a:solidFill>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IN" sz="2000" u="none" strike="noStrike" cap="none" dirty="0">
                          <a:latin typeface="Times New Roman" panose="02020603050405020304" pitchFamily="18" charset="0"/>
                          <a:cs typeface="Times New Roman" panose="02020603050405020304" pitchFamily="18" charset="0"/>
                        </a:rPr>
                        <a:t>20221CSE0090</a:t>
                      </a:r>
                      <a:endParaRPr sz="2000"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u="none" strike="noStrike" cap="none" dirty="0">
                          <a:latin typeface="Times New Roman" panose="02020603050405020304" pitchFamily="18" charset="0"/>
                          <a:cs typeface="Times New Roman" panose="02020603050405020304" pitchFamily="18" charset="0"/>
                        </a:rPr>
                        <a:t>P</a:t>
                      </a:r>
                      <a:r>
                        <a:rPr lang="en-IN" sz="2000" u="none" strike="noStrike" cap="none" dirty="0">
                          <a:latin typeface="Times New Roman" panose="02020603050405020304" pitchFamily="18" charset="0"/>
                          <a:cs typeface="Times New Roman" panose="02020603050405020304" pitchFamily="18" charset="0"/>
                        </a:rPr>
                        <a:t> Vishnu Vardhan</a:t>
                      </a:r>
                      <a:endParaRPr sz="2000"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r>
                        <a:rPr lang="en-IN" sz="2000" u="none" strike="noStrike" cap="none" dirty="0">
                          <a:latin typeface="Times New Roman" panose="02020603050405020304" pitchFamily="18" charset="0"/>
                          <a:cs typeface="Times New Roman" panose="02020603050405020304" pitchFamily="18" charset="0"/>
                        </a:rPr>
                        <a:t>20221CSE0195</a:t>
                      </a:r>
                      <a:endParaRPr sz="2000"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2000" u="none" strike="noStrike" cap="none" dirty="0">
                          <a:latin typeface="Times New Roman" panose="02020603050405020304" pitchFamily="18" charset="0"/>
                          <a:cs typeface="Times New Roman" panose="02020603050405020304" pitchFamily="18" charset="0"/>
                        </a:rPr>
                        <a:t>S Vasista</a:t>
                      </a:r>
                      <a:endParaRPr sz="2000"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r>
                        <a:rPr lang="en-IN" sz="2000" u="none" strike="noStrike" cap="none" dirty="0">
                          <a:latin typeface="Times New Roman" panose="02020603050405020304" pitchFamily="18" charset="0"/>
                          <a:cs typeface="Times New Roman" panose="02020603050405020304" pitchFamily="18" charset="0"/>
                        </a:rPr>
                        <a:t>20221CSE0225</a:t>
                      </a:r>
                      <a:endParaRPr sz="2000"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2000" u="none" strike="noStrike" cap="none" dirty="0">
                          <a:latin typeface="Times New Roman" panose="02020603050405020304" pitchFamily="18" charset="0"/>
                          <a:cs typeface="Times New Roman" panose="02020603050405020304" pitchFamily="18" charset="0"/>
                        </a:rPr>
                        <a:t>A Dhanush</a:t>
                      </a:r>
                      <a:endParaRPr sz="2000"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2000"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2000"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71639" y="32629"/>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2400" b="1"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rPr>
              <a:t>CSE7302-</a:t>
            </a:r>
            <a:r>
              <a:rPr lang="en-GB" sz="24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rPr>
              <a:t> Capstone Project</a:t>
            </a:r>
            <a:endParaRPr sz="2400" dirty="0">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ctr" rtl="0">
              <a:spcBef>
                <a:spcPts val="310"/>
              </a:spcBef>
              <a:spcAft>
                <a:spcPts val="0"/>
              </a:spcAft>
              <a:buClr>
                <a:srgbClr val="17365D"/>
              </a:buClr>
              <a:buSzPct val="100000"/>
              <a:buFont typeface="Arial"/>
              <a:buNone/>
            </a:pPr>
            <a:r>
              <a:rPr lang="en-GB" sz="24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rPr>
              <a:t>Review-1</a:t>
            </a:r>
            <a:endParaRPr sz="24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2000" b="1" i="0" u="none" strike="noStrike" cap="none"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sym typeface="Verdana"/>
              </a:rPr>
              <a:t>Name of the Program: </a:t>
            </a:r>
            <a:r>
              <a:rPr lang="en-US" sz="2000" dirty="0">
                <a:solidFill>
                  <a:schemeClr val="tx1">
                    <a:lumMod val="95000"/>
                    <a:lumOff val="5000"/>
                  </a:schemeClr>
                </a:solidFill>
                <a:latin typeface="Times New Roman" panose="02020603050405020304" pitchFamily="18" charset="0"/>
                <a:ea typeface="Cambria" panose="02040503050406030204" pitchFamily="18" charset="0"/>
                <a:cs typeface="Times New Roman" panose="02020603050405020304" pitchFamily="18" charset="0"/>
                <a:sym typeface="Verdana"/>
              </a:rPr>
              <a:t>CSE</a:t>
            </a:r>
            <a:endParaRPr lang="en-US" sz="2000" i="0" u="none" strike="noStrike" cap="none" dirty="0">
              <a:solidFill>
                <a:schemeClr val="tx1">
                  <a:lumMod val="95000"/>
                  <a:lumOff val="5000"/>
                </a:schemeClr>
              </a:solidFill>
              <a:latin typeface="Times New Roman" panose="02020603050405020304" pitchFamily="18" charset="0"/>
              <a:ea typeface="Cambria" panose="02040503050406030204" pitchFamily="18" charset="0"/>
              <a:cs typeface="Times New Roman" panose="02020603050405020304" pitchFamily="18" charset="0"/>
              <a:sym typeface="Verdana"/>
            </a:endParaRPr>
          </a:p>
          <a:p>
            <a:pPr lvl="0">
              <a:buClr>
                <a:srgbClr val="17365D"/>
              </a:buClr>
              <a:buSzPct val="100000"/>
            </a:pPr>
            <a:r>
              <a:rPr lang="en-US" sz="2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sym typeface="Verdana"/>
              </a:rPr>
              <a:t>Name of the HoD: </a:t>
            </a:r>
            <a:r>
              <a:rPr lang="en-IN" sz="2000" dirty="0">
                <a:latin typeface="Times New Roman" panose="02020603050405020304" pitchFamily="18" charset="0"/>
                <a:cs typeface="Times New Roman" panose="02020603050405020304" pitchFamily="18" charset="0"/>
              </a:rPr>
              <a:t>Dr.</a:t>
            </a:r>
            <a:r>
              <a:rPr lang="en-US" sz="2000" dirty="0">
                <a:latin typeface="Times New Roman" panose="02020603050405020304" pitchFamily="18" charset="0"/>
                <a:cs typeface="Times New Roman" panose="02020603050405020304" pitchFamily="18" charset="0"/>
              </a:rPr>
              <a:t>Blessed Prince</a:t>
            </a:r>
            <a:endParaRPr lang="en-US" sz="2000" b="1" dirty="0">
              <a:solidFill>
                <a:srgbClr val="FF0000"/>
              </a:solidFill>
              <a:latin typeface="Times New Roman" panose="02020603050405020304" pitchFamily="18" charset="0"/>
              <a:ea typeface="Cambria" panose="02040503050406030204" pitchFamily="18" charset="0"/>
              <a:cs typeface="Times New Roman" panose="02020603050405020304" pitchFamily="18" charset="0"/>
              <a:sym typeface="Verdana"/>
            </a:endParaRPr>
          </a:p>
          <a:p>
            <a:pPr lvl="0">
              <a:buClr>
                <a:srgbClr val="17365D"/>
              </a:buClr>
              <a:buSzPct val="100000"/>
            </a:pPr>
            <a:r>
              <a:rPr lang="en-US" sz="2000" b="1" i="0" u="none" strike="noStrike" cap="none"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sym typeface="Verdana"/>
              </a:rPr>
              <a:t>Name of the Program Project Coordinator: </a:t>
            </a:r>
            <a:r>
              <a:rPr lang="en-IN" sz="2000" dirty="0">
                <a:latin typeface="Times New Roman" panose="02020603050405020304" pitchFamily="18" charset="0"/>
                <a:cs typeface="Times New Roman" panose="02020603050405020304" pitchFamily="18" charset="0"/>
              </a:rPr>
              <a:t>Dr. </a:t>
            </a:r>
            <a:r>
              <a:rPr lang="en-US" sz="2000" dirty="0">
                <a:latin typeface="Times New Roman" panose="02020603050405020304" pitchFamily="18" charset="0"/>
                <a:cs typeface="Times New Roman" panose="02020603050405020304" pitchFamily="18" charset="0"/>
              </a:rPr>
              <a:t>Muthuraj</a:t>
            </a:r>
            <a:endParaRPr lang="en-US" sz="2000" b="1" dirty="0">
              <a:solidFill>
                <a:srgbClr val="FF0000"/>
              </a:solidFill>
              <a:latin typeface="Times New Roman" panose="02020603050405020304" pitchFamily="18" charset="0"/>
              <a:ea typeface="Cambria" panose="02040503050406030204" pitchFamily="18" charset="0"/>
              <a:cs typeface="Times New Roman" panose="02020603050405020304" pitchFamily="18" charset="0"/>
              <a:sym typeface="Verdana"/>
            </a:endParaRPr>
          </a:p>
          <a:p>
            <a:pPr lvl="0">
              <a:buClr>
                <a:srgbClr val="17365D"/>
              </a:buClr>
              <a:buSzPct val="100000"/>
            </a:pPr>
            <a:r>
              <a:rPr lang="en-US" sz="2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sym typeface="Verdana"/>
              </a:rPr>
              <a:t>Name of the School Project Coordinators: </a:t>
            </a:r>
            <a:r>
              <a:rPr lang="en-US" sz="2000"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rPr>
              <a:t>Dr. Sampath A K , Dr. Geetha A </a:t>
            </a:r>
            <a:endParaRPr sz="2000"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sz="2400" dirty="0">
                <a:latin typeface="Times New Roman" panose="02020603050405020304" pitchFamily="18" charset="0"/>
                <a:ea typeface="Cambria" panose="02040503050406030204" pitchFamily="18" charset="0"/>
                <a:cs typeface="Times New Roman" panose="02020603050405020304" pitchFamily="18" charset="0"/>
              </a:rPr>
              <a:t>Problem Statement Number: SHI25008</a:t>
            </a:r>
            <a:endParaRPr sz="2400"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97" name="Google Shape;97;p14"/>
          <p:cNvSpPr txBox="1">
            <a:spLocks noGrp="1"/>
          </p:cNvSpPr>
          <p:nvPr>
            <p:ph type="body" idx="1"/>
          </p:nvPr>
        </p:nvSpPr>
        <p:spPr>
          <a:xfrm>
            <a:off x="678793" y="1135118"/>
            <a:ext cx="10834414" cy="4753302"/>
          </a:xfrm>
          <a:prstGeom prst="rect">
            <a:avLst/>
          </a:prstGeom>
          <a:noFill/>
          <a:ln>
            <a:noFill/>
          </a:ln>
        </p:spPr>
        <p:txBody>
          <a:bodyPr spcFirstLastPara="1" wrap="square" lIns="91425" tIns="45700" rIns="91425" bIns="45700" anchor="t" anchorCtr="0">
            <a:normAutofit fontScale="85000" lnSpcReduction="20000"/>
          </a:bodyPr>
          <a:lstStyle/>
          <a:p>
            <a:pPr marL="342900" indent="-190500" algn="just">
              <a:spcBef>
                <a:spcPts val="0"/>
              </a:spcBef>
              <a:buNone/>
            </a:pPr>
            <a:r>
              <a:rPr lang="en-US" b="1" dirty="0">
                <a:latin typeface="Times New Roman" panose="02020603050405020304" pitchFamily="18" charset="0"/>
                <a:ea typeface="Cambria" panose="02040503050406030204" pitchFamily="18" charset="0"/>
                <a:cs typeface="Times New Roman" panose="02020603050405020304" pitchFamily="18" charset="0"/>
              </a:rPr>
              <a:t>Category:  </a:t>
            </a:r>
            <a:r>
              <a:rPr lang="en-US" sz="2200" dirty="0">
                <a:latin typeface="Times New Roman" panose="02020603050405020304" pitchFamily="18" charset="0"/>
                <a:ea typeface="Cambria" panose="02040503050406030204" pitchFamily="18" charset="0"/>
                <a:cs typeface="Times New Roman" panose="02020603050405020304" pitchFamily="18" charset="0"/>
              </a:rPr>
              <a:t>Software</a:t>
            </a:r>
          </a:p>
          <a:p>
            <a:pPr marL="342900" indent="-190500" algn="just">
              <a:spcBef>
                <a:spcPts val="0"/>
              </a:spcBef>
              <a:buNone/>
            </a:pPr>
            <a:endParaRPr lang="en-US" sz="2200" b="1" dirty="0">
              <a:latin typeface="Times New Roman" panose="02020603050405020304" pitchFamily="18" charset="0"/>
              <a:ea typeface="Cambria" panose="02040503050406030204" pitchFamily="18" charset="0"/>
              <a:cs typeface="Times New Roman" panose="02020603050405020304" pitchFamily="18" charset="0"/>
            </a:endParaRPr>
          </a:p>
          <a:p>
            <a:pPr marL="342900" lvl="0" indent="-190500" algn="just">
              <a:spcBef>
                <a:spcPts val="0"/>
              </a:spcBef>
              <a:buNone/>
            </a:pPr>
            <a:r>
              <a:rPr lang="en-US" b="1" dirty="0">
                <a:latin typeface="Times New Roman" panose="02020603050405020304" pitchFamily="18" charset="0"/>
                <a:ea typeface="Cambria" panose="02040503050406030204" pitchFamily="18" charset="0"/>
                <a:cs typeface="Times New Roman" panose="02020603050405020304" pitchFamily="18" charset="0"/>
              </a:rPr>
              <a:t>Organization: </a:t>
            </a:r>
            <a:r>
              <a:rPr lang="en-US" sz="2200" dirty="0">
                <a:latin typeface="Times New Roman" panose="02020603050405020304" pitchFamily="18" charset="0"/>
                <a:ea typeface="Cambria" panose="02040503050406030204" pitchFamily="18" charset="0"/>
                <a:cs typeface="Times New Roman" panose="02020603050405020304" pitchFamily="18" charset="0"/>
              </a:rPr>
              <a:t>Educational Institutions (Schools &amp; colleges)</a:t>
            </a:r>
          </a:p>
          <a:p>
            <a:pPr marL="342900" lvl="0" indent="-190500" algn="just">
              <a:lnSpc>
                <a:spcPct val="200000"/>
              </a:lnSpc>
              <a:spcBef>
                <a:spcPts val="0"/>
              </a:spcBef>
              <a:buNone/>
            </a:pPr>
            <a:r>
              <a:rPr lang="en-US" b="1" dirty="0">
                <a:latin typeface="Times New Roman" panose="02020603050405020304" pitchFamily="18" charset="0"/>
                <a:ea typeface="Cambria" panose="02040503050406030204" pitchFamily="18" charset="0"/>
                <a:cs typeface="Times New Roman" panose="02020603050405020304" pitchFamily="18" charset="0"/>
              </a:rPr>
              <a:t>Problem Description: </a:t>
            </a:r>
            <a:r>
              <a:rPr lang="en-US" sz="2200" dirty="0">
                <a:latin typeface="Times New Roman" panose="02020603050405020304" pitchFamily="18" charset="0"/>
                <a:cs typeface="Times New Roman" panose="02020603050405020304" pitchFamily="18" charset="0"/>
              </a:rPr>
              <a:t>Natural disasters such as earthquakes, floods, fires, and cyclones cause severe damage to life and property every year. Schools and colleges often lack structured disaster preparedness education, practical training modules, and real-time guidance systems. Existing awareness programs are mostly theoretical, outdated, or conducted irregularly, leading to poor preparedness among students and staff. There is a need for a centralized, interactive, and accessible web-based system that educates students about disaster preparedness, safety protocols, and emergency response procedures in a simple and engaging manner.</a:t>
            </a:r>
            <a:endParaRPr lang="en-US" sz="2200" b="1" dirty="0">
              <a:latin typeface="Times New Roman" panose="02020603050405020304" pitchFamily="18" charset="0"/>
              <a:ea typeface="Cambria" panose="02040503050406030204" pitchFamily="18" charset="0"/>
              <a:cs typeface="Times New Roman" panose="02020603050405020304" pitchFamily="18" charset="0"/>
            </a:endParaRPr>
          </a:p>
          <a:p>
            <a:pPr marL="342900" lvl="0" indent="-190500">
              <a:lnSpc>
                <a:spcPct val="200000"/>
              </a:lnSpc>
              <a:spcBef>
                <a:spcPts val="0"/>
              </a:spcBef>
              <a:buNone/>
            </a:pPr>
            <a:endParaRPr lang="en-US" b="1" dirty="0">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71767-F0B5-3490-CDFC-B9AE29662BB5}"/>
              </a:ext>
            </a:extLst>
          </p:cNvPr>
          <p:cNvSpPr>
            <a:spLocks noGrp="1"/>
          </p:cNvSpPr>
          <p:nvPr>
            <p:ph type="title"/>
          </p:nvPr>
        </p:nvSpPr>
        <p:spPr/>
        <p:txBody>
          <a:bodyPr/>
          <a:lstStyle/>
          <a:p>
            <a:r>
              <a:rPr lang="en-GB" sz="2400" dirty="0">
                <a:latin typeface="Times New Roman" panose="02020603050405020304" pitchFamily="18" charset="0"/>
                <a:ea typeface="Cambria" panose="02040503050406030204" pitchFamily="18" charset="0"/>
                <a:cs typeface="Times New Roman" panose="02020603050405020304" pitchFamily="18" charset="0"/>
              </a:rPr>
              <a:t>Problem Statement Number: SHI25008</a:t>
            </a:r>
            <a:endParaRPr lang="en-IN" sz="2400" dirty="0"/>
          </a:p>
        </p:txBody>
      </p:sp>
      <p:sp>
        <p:nvSpPr>
          <p:cNvPr id="3" name="Text Placeholder 2">
            <a:extLst>
              <a:ext uri="{FF2B5EF4-FFF2-40B4-BE49-F238E27FC236}">
                <a16:creationId xmlns:a16="http://schemas.microsoft.com/office/drawing/2014/main" id="{4DE33B6C-EF87-98DE-5F55-2CA787CD5275}"/>
              </a:ext>
            </a:extLst>
          </p:cNvPr>
          <p:cNvSpPr>
            <a:spLocks noGrp="1"/>
          </p:cNvSpPr>
          <p:nvPr>
            <p:ph type="body" idx="1"/>
          </p:nvPr>
        </p:nvSpPr>
        <p:spPr>
          <a:xfrm>
            <a:off x="761124" y="993227"/>
            <a:ext cx="10771352" cy="5087008"/>
          </a:xfrm>
        </p:spPr>
        <p:txBody>
          <a:bodyPr>
            <a:normAutofit lnSpcReduction="10000"/>
          </a:bodyPr>
          <a:lstStyle/>
          <a:p>
            <a:pPr marL="76200" indent="0" algn="just">
              <a:buNone/>
            </a:pPr>
            <a:r>
              <a:rPr lang="en-US" sz="2200" b="1" dirty="0">
                <a:latin typeface="Times New Roman" panose="02020603050405020304" pitchFamily="18" charset="0"/>
                <a:cs typeface="Times New Roman" panose="02020603050405020304" pitchFamily="18" charset="0"/>
              </a:rPr>
              <a:t>Problem Statement:</a:t>
            </a:r>
          </a:p>
          <a:p>
            <a:pPr marL="76200" indent="0" algn="just">
              <a:buNone/>
            </a:pPr>
            <a:r>
              <a:rPr lang="en-US" sz="2000" dirty="0">
                <a:latin typeface="Times New Roman" panose="02020603050405020304" pitchFamily="18" charset="0"/>
                <a:cs typeface="Times New Roman" panose="02020603050405020304" pitchFamily="18" charset="0"/>
              </a:rPr>
              <a:t>Educational institutions currently do not have an integrated and interactive platform to train students and staff on disaster preparedness and response. Most disaster education is limited to manuals or occasional drills, which do not ensure long-term retention or practical understanding. The lack of digital learning tools, real-time guidance, and assessment mechanisms results in panic, confusion, and unsafe actions during emergencies. Hence, there is a need for a web-based disaster preparedness education system that provides structured learning, simulations, and response guidance.</a:t>
            </a:r>
          </a:p>
          <a:p>
            <a:pPr marL="76200" indent="0" algn="just">
              <a:buNone/>
            </a:pPr>
            <a:endParaRPr lang="en-US" sz="2000" dirty="0">
              <a:latin typeface="Times New Roman" panose="02020603050405020304" pitchFamily="18" charset="0"/>
              <a:cs typeface="Times New Roman" panose="02020603050405020304" pitchFamily="18" charset="0"/>
            </a:endParaRPr>
          </a:p>
          <a:p>
            <a:pPr marL="76200" indent="0" algn="just">
              <a:buNone/>
            </a:pPr>
            <a:r>
              <a:rPr lang="en-US" sz="2200" b="1" dirty="0">
                <a:latin typeface="Times New Roman" panose="02020603050405020304" pitchFamily="18" charset="0"/>
                <a:cs typeface="Times New Roman" panose="02020603050405020304" pitchFamily="18" charset="0"/>
              </a:rPr>
              <a:t>Objectives:</a:t>
            </a:r>
          </a:p>
          <a:p>
            <a:pPr algn="just"/>
            <a:r>
              <a:rPr lang="en-US" sz="2000" dirty="0">
                <a:latin typeface="Times New Roman" panose="02020603050405020304" pitchFamily="18" charset="0"/>
                <a:cs typeface="Times New Roman" panose="02020603050405020304" pitchFamily="18" charset="0"/>
              </a:rPr>
              <a:t>To create a web-based platform for disaster preparedness education.</a:t>
            </a:r>
          </a:p>
          <a:p>
            <a:pPr algn="just"/>
            <a:r>
              <a:rPr lang="en-US" sz="2000" dirty="0">
                <a:latin typeface="Times New Roman" panose="02020603050405020304" pitchFamily="18" charset="0"/>
                <a:cs typeface="Times New Roman" panose="02020603050405020304" pitchFamily="18" charset="0"/>
              </a:rPr>
              <a:t>To provide structured learning modules for different types of disasters.</a:t>
            </a:r>
          </a:p>
          <a:p>
            <a:pPr algn="just"/>
            <a:r>
              <a:rPr lang="en-US" sz="2000" dirty="0">
                <a:latin typeface="Times New Roman" panose="02020603050405020304" pitchFamily="18" charset="0"/>
                <a:cs typeface="Times New Roman" panose="02020603050405020304" pitchFamily="18" charset="0"/>
              </a:rPr>
              <a:t>To educate students on safety measures before, during, and after disasters.</a:t>
            </a:r>
          </a:p>
          <a:p>
            <a:pPr algn="just"/>
            <a:r>
              <a:rPr lang="en-US" sz="2000" dirty="0">
                <a:latin typeface="Times New Roman" panose="02020603050405020304" pitchFamily="18" charset="0"/>
                <a:cs typeface="Times New Roman" panose="02020603050405020304" pitchFamily="18" charset="0"/>
              </a:rPr>
              <a:t>To include interactive quizzes and assessments to measure awareness.</a:t>
            </a:r>
          </a:p>
          <a:p>
            <a:pPr algn="just"/>
            <a:r>
              <a:rPr lang="en-US" sz="2000" dirty="0">
                <a:latin typeface="Times New Roman" panose="02020603050405020304" pitchFamily="18" charset="0"/>
                <a:cs typeface="Times New Roman" panose="02020603050405020304" pitchFamily="18" charset="0"/>
              </a:rPr>
              <a:t>To provide emergency response guidelines in a simple and visual format.</a:t>
            </a:r>
          </a:p>
          <a:p>
            <a:pPr algn="just"/>
            <a:r>
              <a:rPr lang="en-US" sz="2000" dirty="0">
                <a:latin typeface="Times New Roman" panose="02020603050405020304" pitchFamily="18" charset="0"/>
                <a:cs typeface="Times New Roman" panose="02020603050405020304" pitchFamily="18" charset="0"/>
              </a:rPr>
              <a:t>To improve disaster readiness in schools and colleges through digital learning.</a:t>
            </a:r>
            <a:endParaRPr lang="en-US" sz="2000" b="1" dirty="0">
              <a:latin typeface="Times New Roman" panose="02020603050405020304" pitchFamily="18" charset="0"/>
              <a:cs typeface="Times New Roman" panose="02020603050405020304" pitchFamily="18" charset="0"/>
            </a:endParaRPr>
          </a:p>
          <a:p>
            <a:pPr marL="76200" indent="0" algn="just">
              <a:buNone/>
            </a:pPr>
            <a:endParaRPr lang="en-US" sz="1900" b="1" dirty="0">
              <a:latin typeface="Times New Roman" panose="02020603050405020304" pitchFamily="18" charset="0"/>
              <a:cs typeface="Times New Roman" panose="02020603050405020304" pitchFamily="18" charset="0"/>
            </a:endParaRPr>
          </a:p>
          <a:p>
            <a:pPr marL="76200" indent="0">
              <a:buNone/>
            </a:pP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58676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sz="2400" dirty="0">
                <a:latin typeface="Times New Roman" panose="02020603050405020304" pitchFamily="18" charset="0"/>
                <a:ea typeface="Cambria" panose="02040503050406030204" pitchFamily="18" charset="0"/>
                <a:cs typeface="Times New Roman" panose="02020603050405020304" pitchFamily="18" charset="0"/>
              </a:rPr>
              <a:t>Problem Statement Number: SHI25008</a:t>
            </a:r>
            <a:endParaRPr sz="2400"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43574" y="1040524"/>
            <a:ext cx="10606451" cy="4918842"/>
          </a:xfrm>
          <a:prstGeom prst="rect">
            <a:avLst/>
          </a:prstGeom>
          <a:noFill/>
          <a:ln>
            <a:noFill/>
          </a:ln>
        </p:spPr>
        <p:txBody>
          <a:bodyPr spcFirstLastPara="1" wrap="square" lIns="91425" tIns="45700" rIns="91425" bIns="45700" anchor="t" anchorCtr="0">
            <a:normAutofit lnSpcReduction="10000"/>
          </a:bodyPr>
          <a:lstStyle/>
          <a:p>
            <a:pPr marL="76200" indent="0">
              <a:buNone/>
            </a:pPr>
            <a:r>
              <a:rPr lang="en-US" sz="2200" b="1" dirty="0">
                <a:latin typeface="Times New Roman" panose="02020603050405020304" pitchFamily="18" charset="0"/>
                <a:cs typeface="Times New Roman" panose="02020603050405020304" pitchFamily="18" charset="0"/>
              </a:rPr>
              <a:t>Background &amp; Related Work:</a:t>
            </a:r>
          </a:p>
          <a:p>
            <a:pPr marL="76200" indent="0" algn="just">
              <a:buNone/>
            </a:pPr>
            <a:r>
              <a:rPr lang="en-US" sz="2000" dirty="0">
                <a:latin typeface="Times New Roman" panose="02020603050405020304" pitchFamily="18" charset="0"/>
                <a:cs typeface="Times New Roman" panose="02020603050405020304" pitchFamily="18" charset="0"/>
              </a:rPr>
              <a:t>Traditional disaster education relies on classroom lectures, printed manuals, and occasional drills. While government agencies and NGOs provide disaster awareness materials, they are often not tailored for students or integrated into daily learning. Recent studies show that digital learning platforms, simulations, and interactive content significantly improve disaster awareness and response behavior. However, existing systems lack centralized access, student-friendly design, and institutional customization. This project builds upon existing disaster education approaches by providing a web based, interactive, and institution-focused solution.</a:t>
            </a:r>
          </a:p>
          <a:p>
            <a:pPr marL="76200" indent="0" algn="just">
              <a:buNone/>
            </a:pPr>
            <a:endParaRPr lang="en-US" sz="2000" dirty="0">
              <a:latin typeface="Times New Roman" panose="02020603050405020304" pitchFamily="18" charset="0"/>
              <a:cs typeface="Times New Roman" panose="02020603050405020304" pitchFamily="18" charset="0"/>
            </a:endParaRPr>
          </a:p>
          <a:p>
            <a:pPr marL="76200" indent="0" algn="just">
              <a:buNone/>
            </a:pPr>
            <a:r>
              <a:rPr lang="en-US" sz="2200" b="1" dirty="0">
                <a:latin typeface="Times New Roman" panose="02020603050405020304" pitchFamily="18" charset="0"/>
                <a:cs typeface="Times New Roman" panose="02020603050405020304" pitchFamily="18" charset="0"/>
              </a:rPr>
              <a:t>Innovation:</a:t>
            </a:r>
          </a:p>
          <a:p>
            <a:pPr algn="just"/>
            <a:r>
              <a:rPr lang="en-US" sz="2000" dirty="0">
                <a:latin typeface="Times New Roman" panose="02020603050405020304" pitchFamily="18" charset="0"/>
                <a:cs typeface="Times New Roman" panose="02020603050405020304" pitchFamily="18" charset="0"/>
              </a:rPr>
              <a:t>Centralized web application for disaster education.</a:t>
            </a:r>
          </a:p>
          <a:p>
            <a:pPr algn="just"/>
            <a:r>
              <a:rPr lang="en-US" sz="2000" dirty="0">
                <a:latin typeface="Times New Roman" panose="02020603050405020304" pitchFamily="18" charset="0"/>
                <a:cs typeface="Times New Roman" panose="02020603050405020304" pitchFamily="18" charset="0"/>
              </a:rPr>
              <a:t>Interactive learning modules with visuals and step-by-step guidance.</a:t>
            </a:r>
          </a:p>
          <a:p>
            <a:pPr algn="just"/>
            <a:r>
              <a:rPr lang="en-US" sz="2000" dirty="0">
                <a:latin typeface="Times New Roman" panose="02020603050405020304" pitchFamily="18" charset="0"/>
                <a:cs typeface="Times New Roman" panose="02020603050405020304" pitchFamily="18" charset="0"/>
              </a:rPr>
              <a:t>Disaster-specific preparedness and response workflows.</a:t>
            </a:r>
          </a:p>
          <a:p>
            <a:pPr algn="just"/>
            <a:r>
              <a:rPr lang="en-US" sz="2000" dirty="0">
                <a:latin typeface="Times New Roman" panose="02020603050405020304" pitchFamily="18" charset="0"/>
                <a:cs typeface="Times New Roman" panose="02020603050405020304" pitchFamily="18" charset="0"/>
              </a:rPr>
              <a:t>Quiz-based evaluation to assess preparedness levels.</a:t>
            </a:r>
          </a:p>
          <a:p>
            <a:pPr algn="just"/>
            <a:r>
              <a:rPr lang="en-US" sz="2000" dirty="0">
                <a:latin typeface="Times New Roman" panose="02020603050405020304" pitchFamily="18" charset="0"/>
                <a:cs typeface="Times New Roman" panose="02020603050405020304" pitchFamily="18" charset="0"/>
              </a:rPr>
              <a:t>Easy accessibility through any web browser without additional hardware.</a:t>
            </a:r>
            <a:endParaRPr sz="2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GB" sz="2400" dirty="0">
                <a:latin typeface="Times New Roman" panose="02020603050405020304" pitchFamily="18" charset="0"/>
                <a:ea typeface="Cambria" panose="02040503050406030204" pitchFamily="18" charset="0"/>
                <a:cs typeface="Times New Roman" panose="02020603050405020304" pitchFamily="18" charset="0"/>
              </a:rPr>
              <a:t>Problem Statement Number: SHI25008</a:t>
            </a:r>
            <a:endParaRPr lang="en-US" sz="2400"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725651" y="1150883"/>
            <a:ext cx="10842297"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US" sz="2200" b="1" dirty="0">
                <a:latin typeface="Times New Roman" panose="02020603050405020304" pitchFamily="18" charset="0"/>
                <a:ea typeface="Cambria" panose="02040503050406030204" pitchFamily="18" charset="0"/>
                <a:cs typeface="Times New Roman" panose="02020603050405020304" pitchFamily="18" charset="0"/>
              </a:rPr>
              <a:t>Why a Web Application ?</a:t>
            </a:r>
          </a:p>
          <a:p>
            <a:pPr marL="495300" indent="-342900" algn="just">
              <a:spcBef>
                <a:spcPts val="0"/>
              </a:spcBef>
              <a:buSzPct val="100000"/>
            </a:pPr>
            <a:r>
              <a:rPr lang="en-US" sz="2000" dirty="0">
                <a:latin typeface="Times New Roman" panose="02020603050405020304" pitchFamily="18" charset="0"/>
                <a:cs typeface="Times New Roman" panose="02020603050405020304" pitchFamily="18" charset="0"/>
              </a:rPr>
              <a:t>Easy access on laptops, tablets, and mobile browsers.</a:t>
            </a:r>
          </a:p>
          <a:p>
            <a:pPr marL="495300" indent="-342900" algn="just">
              <a:spcBef>
                <a:spcPts val="0"/>
              </a:spcBef>
              <a:buSzPct val="100000"/>
            </a:pPr>
            <a:r>
              <a:rPr lang="en-IN" sz="2000" dirty="0">
                <a:latin typeface="Times New Roman" panose="02020603050405020304" pitchFamily="18" charset="0"/>
                <a:cs typeface="Times New Roman" panose="02020603050405020304" pitchFamily="18" charset="0"/>
              </a:rPr>
              <a:t>No installation required.</a:t>
            </a:r>
          </a:p>
          <a:p>
            <a:pPr marL="495300" indent="-342900" algn="just">
              <a:spcBef>
                <a:spcPts val="0"/>
              </a:spcBef>
              <a:buSzPct val="100000"/>
            </a:pPr>
            <a:r>
              <a:rPr lang="en-US" sz="2000" dirty="0">
                <a:latin typeface="Times New Roman" panose="02020603050405020304" pitchFamily="18" charset="0"/>
                <a:cs typeface="Times New Roman" panose="02020603050405020304" pitchFamily="18" charset="0"/>
              </a:rPr>
              <a:t>Can be used in classrooms and remote learning.</a:t>
            </a:r>
          </a:p>
          <a:p>
            <a:pPr marL="495300" indent="-342900" algn="just">
              <a:spcBef>
                <a:spcPts val="0"/>
              </a:spcBef>
              <a:buSzPct val="100000"/>
            </a:pPr>
            <a:r>
              <a:rPr lang="en-US" sz="2000" dirty="0">
                <a:latin typeface="Times New Roman" panose="02020603050405020304" pitchFamily="18" charset="0"/>
                <a:cs typeface="Times New Roman" panose="02020603050405020304" pitchFamily="18" charset="0"/>
              </a:rPr>
              <a:t>Easy updates and scalability for institutions.</a:t>
            </a:r>
          </a:p>
          <a:p>
            <a:pPr marL="152400" indent="0" algn="just">
              <a:spcBef>
                <a:spcPts val="0"/>
              </a:spcBef>
              <a:buSzPct val="100000"/>
              <a:buNone/>
            </a:pPr>
            <a:endParaRPr lang="en-US" sz="1900" dirty="0">
              <a:latin typeface="Times New Roman" panose="02020603050405020304" pitchFamily="18" charset="0"/>
              <a:ea typeface="Cambria" panose="02040503050406030204" pitchFamily="18" charset="0"/>
              <a:cs typeface="Times New Roman" panose="02020603050405020304" pitchFamily="18" charset="0"/>
            </a:endParaRPr>
          </a:p>
          <a:p>
            <a:pPr marL="152400" indent="0" algn="just">
              <a:spcBef>
                <a:spcPts val="0"/>
              </a:spcBef>
              <a:buSzPct val="100000"/>
              <a:buNone/>
            </a:pPr>
            <a:r>
              <a:rPr lang="en-US" sz="2200" b="1" dirty="0">
                <a:latin typeface="Times New Roman" panose="02020603050405020304" pitchFamily="18" charset="0"/>
                <a:ea typeface="Cambria" panose="02040503050406030204" pitchFamily="18" charset="0"/>
                <a:cs typeface="Times New Roman" panose="02020603050405020304" pitchFamily="18" charset="0"/>
              </a:rPr>
              <a:t>GitHub Link:</a:t>
            </a:r>
          </a:p>
          <a:p>
            <a:pPr marL="152400" indent="0" algn="just">
              <a:spcBef>
                <a:spcPts val="0"/>
              </a:spcBef>
              <a:buSzPct val="100000"/>
              <a:buNone/>
            </a:pPr>
            <a:endParaRPr lang="en-US" sz="2200" b="1" dirty="0">
              <a:latin typeface="Times New Roman" panose="02020603050405020304" pitchFamily="18" charset="0"/>
              <a:ea typeface="Cambria" panose="02040503050406030204" pitchFamily="18" charset="0"/>
              <a:cs typeface="Times New Roman" panose="02020603050405020304" pitchFamily="18" charset="0"/>
            </a:endParaRPr>
          </a:p>
          <a:p>
            <a:pPr marL="152400" indent="0" algn="just">
              <a:spcBef>
                <a:spcPts val="0"/>
              </a:spcBef>
              <a:buSzPct val="100000"/>
              <a:buNone/>
            </a:pPr>
            <a:r>
              <a:rPr lang="en-US" sz="2000" dirty="0">
                <a:latin typeface="Times New Roman" panose="02020603050405020304" pitchFamily="18" charset="0"/>
                <a:ea typeface="Cambria" panose="02040503050406030204" pitchFamily="18" charset="0"/>
                <a:cs typeface="Times New Roman" panose="02020603050405020304" pitchFamily="18" charset="0"/>
              </a:rPr>
              <a:t>“ </a:t>
            </a:r>
            <a:r>
              <a:rPr lang="en-US" sz="2000" dirty="0">
                <a:latin typeface="Times New Roman" panose="02020603050405020304" pitchFamily="18" charset="0"/>
                <a:ea typeface="Cambria" panose="02040503050406030204" pitchFamily="18" charset="0"/>
                <a:cs typeface="Times New Roman" panose="02020603050405020304" pitchFamily="18" charset="0"/>
                <a:hlinkClick r:id="rId3"/>
              </a:rPr>
              <a:t>https://github.com/vishnu090705/Disaster-awareness-Response-portal-</a:t>
            </a:r>
            <a:r>
              <a:rPr lang="en-US" sz="2000" dirty="0">
                <a:latin typeface="Times New Roman" panose="02020603050405020304" pitchFamily="18" charset="0"/>
                <a:ea typeface="Cambria" panose="02040503050406030204" pitchFamily="18" charset="0"/>
                <a:cs typeface="Times New Roman" panose="02020603050405020304" pitchFamily="18" charset="0"/>
              </a:rPr>
              <a:t> “</a:t>
            </a:r>
          </a:p>
          <a:p>
            <a:pPr marL="152400" indent="0" algn="just">
              <a:spcBef>
                <a:spcPts val="0"/>
              </a:spcBef>
              <a:buSzPct val="100000"/>
              <a:buNone/>
            </a:pPr>
            <a:endParaRPr lang="en-US" sz="1900" dirty="0">
              <a:latin typeface="Times New Roman" panose="02020603050405020304" pitchFamily="18" charset="0"/>
              <a:ea typeface="Cambria" panose="02040503050406030204" pitchFamily="18" charset="0"/>
              <a:cs typeface="Times New Roman" panose="02020603050405020304" pitchFamily="18" charset="0"/>
            </a:endParaRPr>
          </a:p>
          <a:p>
            <a:pPr marL="152400" indent="0" algn="just">
              <a:spcBef>
                <a:spcPts val="0"/>
              </a:spcBef>
              <a:buSzPct val="100000"/>
              <a:buNone/>
            </a:pPr>
            <a:r>
              <a:rPr lang="en-US" sz="1900" dirty="0">
                <a:latin typeface="Times New Roman" panose="02020603050405020304" pitchFamily="18" charset="0"/>
                <a:ea typeface="Cambria" panose="02040503050406030204" pitchFamily="18" charset="0"/>
                <a:cs typeface="Times New Roman" panose="02020603050405020304" pitchFamily="18" charset="0"/>
              </a:rPr>
              <a:t> </a:t>
            </a: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30816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62AC0-0F26-566C-FF25-C61EBAED3F48}"/>
              </a:ext>
            </a:extLst>
          </p:cNvPr>
          <p:cNvSpPr>
            <a:spLocks noGrp="1"/>
          </p:cNvSpPr>
          <p:nvPr>
            <p:ph type="title"/>
          </p:nvPr>
        </p:nvSpPr>
        <p:spPr/>
        <p:txBody>
          <a:bodyPr/>
          <a:lstStyle/>
          <a:p>
            <a:r>
              <a:rPr lang="en-GB" sz="2400" dirty="0">
                <a:latin typeface="Times New Roman" panose="02020603050405020304" pitchFamily="18" charset="0"/>
                <a:ea typeface="Cambria" panose="02040503050406030204" pitchFamily="18" charset="0"/>
                <a:cs typeface="Times New Roman" panose="02020603050405020304" pitchFamily="18" charset="0"/>
              </a:rPr>
              <a:t>Problem Statement Number: SHI25008</a:t>
            </a:r>
            <a:endParaRPr lang="en-IN" sz="2400" dirty="0"/>
          </a:p>
        </p:txBody>
      </p:sp>
      <p:sp>
        <p:nvSpPr>
          <p:cNvPr id="3" name="Text Placeholder 2">
            <a:extLst>
              <a:ext uri="{FF2B5EF4-FFF2-40B4-BE49-F238E27FC236}">
                <a16:creationId xmlns:a16="http://schemas.microsoft.com/office/drawing/2014/main" id="{3EEB4D6B-C58A-BFBA-19E5-45889D37E3CE}"/>
              </a:ext>
            </a:extLst>
          </p:cNvPr>
          <p:cNvSpPr>
            <a:spLocks noGrp="1"/>
          </p:cNvSpPr>
          <p:nvPr>
            <p:ph type="body" idx="1"/>
          </p:nvPr>
        </p:nvSpPr>
        <p:spPr>
          <a:xfrm>
            <a:off x="772948" y="953813"/>
            <a:ext cx="10747703" cy="5126422"/>
          </a:xfrm>
        </p:spPr>
        <p:txBody>
          <a:bodyPr>
            <a:normAutofit lnSpcReduction="10000"/>
          </a:bodyPr>
          <a:lstStyle/>
          <a:p>
            <a:pPr marL="76200" indent="0" algn="just">
              <a:buNone/>
            </a:pPr>
            <a:r>
              <a:rPr lang="en-US" sz="2200" b="1" dirty="0">
                <a:latin typeface="Times New Roman" panose="02020603050405020304" pitchFamily="18" charset="0"/>
                <a:cs typeface="Times New Roman" panose="02020603050405020304" pitchFamily="18" charset="0"/>
              </a:rPr>
              <a:t>Technology Stack:</a:t>
            </a:r>
          </a:p>
          <a:p>
            <a:pPr marL="76200" indent="0" algn="just">
              <a:buNone/>
            </a:pPr>
            <a:r>
              <a:rPr lang="en-US" sz="2000" b="1" dirty="0">
                <a:latin typeface="Times New Roman" panose="02020603050405020304" pitchFamily="18" charset="0"/>
                <a:cs typeface="Times New Roman" panose="02020603050405020304" pitchFamily="18" charset="0"/>
              </a:rPr>
              <a:t>Frontend:</a:t>
            </a:r>
          </a:p>
          <a:p>
            <a:pPr algn="just"/>
            <a:r>
              <a:rPr lang="en-IN" sz="2000" dirty="0">
                <a:latin typeface="Times New Roman" panose="02020603050405020304" pitchFamily="18" charset="0"/>
                <a:cs typeface="Times New Roman" panose="02020603050405020304" pitchFamily="18" charset="0"/>
              </a:rPr>
              <a:t>HTML, CSS, JavaScript</a:t>
            </a: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Responsive UI for all devices</a:t>
            </a:r>
          </a:p>
          <a:p>
            <a:pPr marL="76200" indent="0" algn="just">
              <a:buNone/>
            </a:pPr>
            <a:r>
              <a:rPr lang="en-US" sz="2000" b="1" dirty="0">
                <a:latin typeface="Times New Roman" panose="02020603050405020304" pitchFamily="18" charset="0"/>
                <a:cs typeface="Times New Roman" panose="02020603050405020304" pitchFamily="18" charset="0"/>
              </a:rPr>
              <a:t>Backend:</a:t>
            </a:r>
          </a:p>
          <a:p>
            <a:pPr algn="just"/>
            <a:r>
              <a:rPr lang="en-IN" sz="2000" dirty="0">
                <a:latin typeface="Times New Roman" panose="02020603050405020304" pitchFamily="18" charset="0"/>
                <a:cs typeface="Times New Roman" panose="02020603050405020304" pitchFamily="18" charset="0"/>
              </a:rPr>
              <a:t>Node.js</a:t>
            </a:r>
          </a:p>
          <a:p>
            <a:pPr algn="just"/>
            <a:r>
              <a:rPr lang="en-US" sz="2000" dirty="0">
                <a:latin typeface="Times New Roman" panose="02020603050405020304" pitchFamily="18" charset="0"/>
                <a:cs typeface="Times New Roman" panose="02020603050405020304" pitchFamily="18" charset="0"/>
              </a:rPr>
              <a:t>REST APIs for content and assessments</a:t>
            </a:r>
          </a:p>
          <a:p>
            <a:pPr marL="76200" indent="0" algn="just">
              <a:buNone/>
            </a:pPr>
            <a:r>
              <a:rPr lang="en-IN" sz="2000" b="1" dirty="0">
                <a:latin typeface="Times New Roman" panose="02020603050405020304" pitchFamily="18" charset="0"/>
                <a:cs typeface="Times New Roman" panose="02020603050405020304" pitchFamily="18" charset="0"/>
              </a:rPr>
              <a:t>Database:</a:t>
            </a:r>
          </a:p>
          <a:p>
            <a:pPr algn="just"/>
            <a:r>
              <a:rPr lang="en-IN" sz="2000" dirty="0">
                <a:latin typeface="Times New Roman" panose="02020603050405020304" pitchFamily="18" charset="0"/>
                <a:cs typeface="Times New Roman" panose="02020603050405020304" pitchFamily="18" charset="0"/>
              </a:rPr>
              <a:t>MySQL</a:t>
            </a:r>
          </a:p>
          <a:p>
            <a:pPr algn="just"/>
            <a:r>
              <a:rPr lang="en-US" sz="2000" dirty="0">
                <a:latin typeface="Times New Roman" panose="02020603050405020304" pitchFamily="18" charset="0"/>
                <a:cs typeface="Times New Roman" panose="02020603050405020304" pitchFamily="18" charset="0"/>
              </a:rPr>
              <a:t>Stores user progress, quiz results, and modules</a:t>
            </a:r>
          </a:p>
          <a:p>
            <a:pPr marL="76200" indent="0" algn="just">
              <a:buNone/>
            </a:pPr>
            <a:r>
              <a:rPr lang="en-US" sz="2000" b="1" dirty="0">
                <a:latin typeface="Times New Roman" panose="02020603050405020304" pitchFamily="18" charset="0"/>
                <a:cs typeface="Times New Roman" panose="02020603050405020304" pitchFamily="18" charset="0"/>
              </a:rPr>
              <a:t>Features:</a:t>
            </a:r>
          </a:p>
          <a:p>
            <a:pPr algn="just"/>
            <a:r>
              <a:rPr lang="en-IN" sz="2000" dirty="0">
                <a:latin typeface="Times New Roman" panose="02020603050405020304" pitchFamily="18" charset="0"/>
                <a:cs typeface="Times New Roman" panose="02020603050405020304" pitchFamily="18" charset="0"/>
              </a:rPr>
              <a:t>Role-based access (Student / Admin)</a:t>
            </a:r>
          </a:p>
          <a:p>
            <a:pPr algn="just"/>
            <a:r>
              <a:rPr lang="en-IN" sz="2000" dirty="0">
                <a:latin typeface="Times New Roman" panose="02020603050405020304" pitchFamily="18" charset="0"/>
                <a:cs typeface="Times New Roman" panose="02020603050405020304" pitchFamily="18" charset="0"/>
              </a:rPr>
              <a:t>Disaster learning modules</a:t>
            </a:r>
          </a:p>
          <a:p>
            <a:pPr algn="just"/>
            <a:r>
              <a:rPr lang="en-IN" sz="2000" dirty="0">
                <a:latin typeface="Times New Roman" panose="02020603050405020304" pitchFamily="18" charset="0"/>
                <a:cs typeface="Times New Roman" panose="02020603050405020304" pitchFamily="18" charset="0"/>
              </a:rPr>
              <a:t>Interactive quizzes</a:t>
            </a: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19552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GB" sz="2400" dirty="0">
                <a:latin typeface="Times New Roman" panose="02020603050405020304" pitchFamily="18" charset="0"/>
                <a:ea typeface="Cambria" panose="02040503050406030204" pitchFamily="18" charset="0"/>
                <a:cs typeface="Times New Roman" panose="02020603050405020304" pitchFamily="18" charset="0"/>
              </a:rPr>
              <a:t>Problem Statement Number: SHI25008</a:t>
            </a:r>
            <a:endParaRPr lang="en-US" sz="2400"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762000" y="762138"/>
            <a:ext cx="10769600" cy="5334000"/>
          </a:xfrm>
          <a:prstGeom prst="rect">
            <a:avLst/>
          </a:prstGeom>
          <a:noFill/>
          <a:ln>
            <a:noFill/>
          </a:ln>
        </p:spPr>
        <p:txBody>
          <a:bodyPr spcFirstLastPara="1" wrap="square" lIns="91425" tIns="45700" rIns="91425" bIns="45700" anchor="t" anchorCtr="0">
            <a:normAutofit/>
          </a:bodyPr>
          <a:lstStyle/>
          <a:p>
            <a:pPr marL="342900" lvl="0" indent="-190500" algn="just">
              <a:lnSpc>
                <a:spcPct val="200000"/>
              </a:lnSpc>
              <a:spcBef>
                <a:spcPts val="0"/>
              </a:spcBef>
              <a:buSzPct val="100000"/>
              <a:buNone/>
            </a:pPr>
            <a:r>
              <a:rPr lang="en-US" sz="2200" b="1" dirty="0">
                <a:latin typeface="Times New Roman" panose="02020603050405020304" pitchFamily="18" charset="0"/>
                <a:ea typeface="Cambria" panose="02040503050406030204" pitchFamily="18" charset="0"/>
                <a:cs typeface="Times New Roman" panose="02020603050405020304" pitchFamily="18" charset="0"/>
              </a:rPr>
              <a:t>Timeline of the project(Gantt Chart):</a:t>
            </a:r>
          </a:p>
          <a:p>
            <a:pPr marL="342900" lvl="0" indent="-190500" algn="just">
              <a:lnSpc>
                <a:spcPct val="200000"/>
              </a:lnSpc>
              <a:spcBef>
                <a:spcPts val="0"/>
              </a:spcBef>
              <a:buSzPct val="100000"/>
              <a:buNone/>
            </a:pPr>
            <a:endParaRPr lang="en-US" sz="3100" b="1" dirty="0">
              <a:latin typeface="Times New Roman" panose="02020603050405020304" pitchFamily="18" charset="0"/>
              <a:ea typeface="Cambria" panose="02040503050406030204" pitchFamily="18" charset="0"/>
              <a:cs typeface="Times New Roman" panose="02020603050405020304" pitchFamily="18" charset="0"/>
            </a:endParaRPr>
          </a:p>
          <a:p>
            <a:pPr marL="152400" indent="0" algn="just">
              <a:lnSpc>
                <a:spcPct val="200000"/>
              </a:lnSpc>
              <a:spcBef>
                <a:spcPts val="0"/>
              </a:spcBef>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pic>
        <p:nvPicPr>
          <p:cNvPr id="5" name="Picture 4">
            <a:extLst>
              <a:ext uri="{FF2B5EF4-FFF2-40B4-BE49-F238E27FC236}">
                <a16:creationId xmlns:a16="http://schemas.microsoft.com/office/drawing/2014/main" id="{AB05C0EE-F72B-159A-CBE3-0CF1492F38B7}"/>
              </a:ext>
            </a:extLst>
          </p:cNvPr>
          <p:cNvPicPr>
            <a:picLocks noChangeAspect="1"/>
          </p:cNvPicPr>
          <p:nvPr/>
        </p:nvPicPr>
        <p:blipFill>
          <a:blip r:embed="rId3"/>
          <a:stretch>
            <a:fillRect/>
          </a:stretch>
        </p:blipFill>
        <p:spPr>
          <a:xfrm>
            <a:off x="1016876" y="1513490"/>
            <a:ext cx="10034752" cy="4477407"/>
          </a:xfrm>
          <a:prstGeom prst="rect">
            <a:avLst/>
          </a:prstGeom>
        </p:spPr>
      </p:pic>
    </p:spTree>
    <p:extLst>
      <p:ext uri="{BB962C8B-B14F-4D97-AF65-F5344CB8AC3E}">
        <p14:creationId xmlns:p14="http://schemas.microsoft.com/office/powerpoint/2010/main" val="33388325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930716" y="355956"/>
            <a:ext cx="10668000" cy="487500"/>
          </a:xfrm>
          <a:prstGeom prst="rect">
            <a:avLst/>
          </a:prstGeom>
          <a:noFill/>
          <a:ln>
            <a:noFill/>
          </a:ln>
        </p:spPr>
        <p:txBody>
          <a:bodyPr spcFirstLastPara="1" wrap="square" lIns="91425" tIns="45700" rIns="91425" bIns="45700" anchor="ctr" anchorCtr="0">
            <a:noAutofit/>
          </a:bodyPr>
          <a:lstStyle/>
          <a:p>
            <a:r>
              <a:rPr lang="en-GB" sz="2400" dirty="0">
                <a:latin typeface="Times New Roman" panose="02020603050405020304" pitchFamily="18" charset="0"/>
                <a:ea typeface="Cambria" panose="02040503050406030204" pitchFamily="18" charset="0"/>
                <a:cs typeface="Times New Roman" panose="02020603050405020304" pitchFamily="18" charset="0"/>
              </a:rPr>
              <a:t>Problem Statement Number: SHI25008</a:t>
            </a:r>
            <a:endParaRPr sz="2400" dirty="0"/>
          </a:p>
        </p:txBody>
      </p:sp>
      <p:sp>
        <p:nvSpPr>
          <p:cNvPr id="145" name="Google Shape;145;p22"/>
          <p:cNvSpPr txBox="1">
            <a:spLocks noGrp="1"/>
          </p:cNvSpPr>
          <p:nvPr>
            <p:ph type="body" idx="1"/>
          </p:nvPr>
        </p:nvSpPr>
        <p:spPr>
          <a:xfrm>
            <a:off x="307428" y="1024759"/>
            <a:ext cx="11173372" cy="5071242"/>
          </a:xfrm>
          <a:prstGeom prst="rect">
            <a:avLst/>
          </a:prstGeom>
          <a:noFill/>
          <a:ln>
            <a:noFill/>
          </a:ln>
        </p:spPr>
        <p:txBody>
          <a:bodyPr spcFirstLastPara="1" wrap="square" lIns="91425" tIns="45700" rIns="91425" bIns="45700" anchor="t" anchorCtr="0">
            <a:normAutofit/>
          </a:bodyPr>
          <a:lstStyle/>
          <a:p>
            <a:pPr marL="609600" lvl="1" indent="0">
              <a:spcBef>
                <a:spcPts val="0"/>
              </a:spcBef>
              <a:buNone/>
            </a:pPr>
            <a:r>
              <a:rPr lang="en-US" sz="2200" b="1" dirty="0">
                <a:latin typeface="Times New Roman" panose="02020603050405020304" pitchFamily="18" charset="0"/>
                <a:ea typeface="Cambria" panose="02040503050406030204" pitchFamily="18" charset="0"/>
                <a:cs typeface="Times New Roman" panose="02020603050405020304" pitchFamily="18" charset="0"/>
              </a:rPr>
              <a:t>References:</a:t>
            </a:r>
          </a:p>
          <a:p>
            <a:pPr marL="609600" lvl="1" indent="0">
              <a:spcBef>
                <a:spcPts val="0"/>
              </a:spcBef>
              <a:buNone/>
            </a:pPr>
            <a:r>
              <a:rPr lang="en-US" dirty="0">
                <a:latin typeface="Times New Roman" panose="02020603050405020304" pitchFamily="18" charset="0"/>
                <a:ea typeface="Cambria" panose="02040503050406030204" pitchFamily="18" charset="0"/>
                <a:cs typeface="Times New Roman" panose="02020603050405020304" pitchFamily="18" charset="0"/>
              </a:rPr>
              <a:t>[1] </a:t>
            </a:r>
            <a:r>
              <a:rPr lang="en-US" dirty="0">
                <a:latin typeface="Times New Roman" panose="02020603050405020304" pitchFamily="18" charset="0"/>
                <a:cs typeface="Times New Roman" panose="02020603050405020304" pitchFamily="18" charset="0"/>
              </a:rPr>
              <a:t>A. K. Sharma and R. Gupta,</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“Disaster preparedness education and community resilience,”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International Journal of Disaster Risk Reduction, vol. 45, pp. 101–110, 2020.</a:t>
            </a:r>
          </a:p>
          <a:p>
            <a:pPr marL="609600" lvl="1" indent="0">
              <a:spcBef>
                <a:spcPts val="0"/>
              </a:spcBef>
              <a:buNone/>
            </a:pPr>
            <a:endParaRPr lang="en-US" dirty="0">
              <a:latin typeface="Times New Roman" panose="02020603050405020304" pitchFamily="18" charset="0"/>
              <a:cs typeface="Times New Roman" panose="02020603050405020304" pitchFamily="18" charset="0"/>
            </a:endParaRPr>
          </a:p>
          <a:p>
            <a:pPr marL="609600" lvl="1" indent="0">
              <a:spcBef>
                <a:spcPts val="0"/>
              </a:spcBef>
              <a:buNone/>
            </a:pPr>
            <a:r>
              <a:rPr lang="en-US" dirty="0">
                <a:latin typeface="Times New Roman" panose="02020603050405020304" pitchFamily="18" charset="0"/>
                <a:ea typeface="Cambria" panose="02040503050406030204" pitchFamily="18" charset="0"/>
                <a:cs typeface="Times New Roman" panose="02020603050405020304" pitchFamily="18" charset="0"/>
              </a:rPr>
              <a:t>[2] </a:t>
            </a:r>
            <a:r>
              <a:rPr lang="en-US" dirty="0">
                <a:latin typeface="Times New Roman" panose="02020603050405020304" pitchFamily="18" charset="0"/>
                <a:cs typeface="Times New Roman" panose="02020603050405020304" pitchFamily="18" charset="0"/>
              </a:rPr>
              <a:t>United Nations Office for Disaster Risk Reduction (UNDRR),</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“Sendai Framework for Disaster Risk Reduction 2015–2030,” United Nations, 2015. </a:t>
            </a:r>
          </a:p>
          <a:p>
            <a:pPr marL="609600" lvl="1" indent="0">
              <a:spcBef>
                <a:spcPts val="0"/>
              </a:spcBef>
              <a:buNone/>
            </a:pPr>
            <a:endParaRPr lang="en-US" dirty="0">
              <a:latin typeface="Times New Roman" panose="02020603050405020304" pitchFamily="18" charset="0"/>
              <a:cs typeface="Times New Roman" panose="02020603050405020304" pitchFamily="18" charset="0"/>
            </a:endParaRPr>
          </a:p>
          <a:p>
            <a:pPr marL="609600" lvl="1" indent="0">
              <a:spcBef>
                <a:spcPts val="0"/>
              </a:spcBef>
              <a:buNone/>
            </a:pPr>
            <a:r>
              <a:rPr lang="en-US" dirty="0">
                <a:latin typeface="Times New Roman" panose="02020603050405020304" pitchFamily="18" charset="0"/>
                <a:ea typeface="Cambria" panose="02040503050406030204" pitchFamily="18" charset="0"/>
                <a:cs typeface="Times New Roman" panose="02020603050405020304" pitchFamily="18" charset="0"/>
              </a:rPr>
              <a:t>[3] </a:t>
            </a:r>
            <a:r>
              <a:rPr lang="en-US" dirty="0">
                <a:latin typeface="Times New Roman" panose="02020603050405020304" pitchFamily="18" charset="0"/>
                <a:cs typeface="Times New Roman" panose="02020603050405020304" pitchFamily="18" charset="0"/>
              </a:rPr>
              <a:t>S. Patel et al.,</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“Web-based disaster management systems for educational institutions,”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IEEE International Conference on Smart Computing, pp. 234–239, 2021.</a:t>
            </a:r>
          </a:p>
          <a:p>
            <a:pPr marL="609600" lvl="1" indent="0">
              <a:spcBef>
                <a:spcPts val="0"/>
              </a:spcBef>
              <a:buNone/>
            </a:pPr>
            <a:endParaRPr lang="en-US" dirty="0">
              <a:latin typeface="Times New Roman" panose="02020603050405020304" pitchFamily="18" charset="0"/>
              <a:cs typeface="Times New Roman" panose="02020603050405020304" pitchFamily="18" charset="0"/>
            </a:endParaRPr>
          </a:p>
          <a:p>
            <a:pPr marL="609600" lvl="1" indent="0">
              <a:spcBef>
                <a:spcPts val="0"/>
              </a:spcBef>
              <a:buNone/>
            </a:pPr>
            <a:r>
              <a:rPr lang="en-US" dirty="0">
                <a:latin typeface="Times New Roman" panose="02020603050405020304" pitchFamily="18" charset="0"/>
                <a:ea typeface="Cambria" panose="02040503050406030204" pitchFamily="18" charset="0"/>
                <a:cs typeface="Times New Roman" panose="02020603050405020304" pitchFamily="18" charset="0"/>
              </a:rPr>
              <a:t>[4] </a:t>
            </a:r>
            <a:r>
              <a:rPr lang="en-US" dirty="0">
                <a:latin typeface="Times New Roman" panose="02020603050405020304" pitchFamily="18" charset="0"/>
                <a:cs typeface="Times New Roman" panose="02020603050405020304" pitchFamily="18" charset="0"/>
              </a:rPr>
              <a:t>World Health Organization (WHO),</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“Emergency preparedness and response guidelines,” WHO Press, 2022.</a:t>
            </a:r>
          </a:p>
          <a:p>
            <a:pPr marL="609600" lvl="1" indent="0">
              <a:spcBef>
                <a:spcPts val="0"/>
              </a:spcBef>
              <a:buNone/>
            </a:pP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152400" indent="0">
              <a:spcBef>
                <a:spcPts val="0"/>
              </a:spcBef>
              <a:buNone/>
            </a:pP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152400" indent="0">
              <a:spcBef>
                <a:spcPts val="0"/>
              </a:spcBef>
              <a:buNone/>
            </a:pP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152400" indent="0">
              <a:spcBef>
                <a:spcPts val="0"/>
              </a:spcBef>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542</TotalTime>
  <Words>794</Words>
  <Application>Microsoft Office PowerPoint</Application>
  <PresentationFormat>Widescreen</PresentationFormat>
  <Paragraphs>90</Paragraphs>
  <Slides>9</Slides>
  <Notes>7</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Bioinformatics</vt:lpstr>
      <vt:lpstr>Disaster preparedness and Response Education System for Schools and Colleges. (Disaster Awareness and Response Portal)  </vt:lpstr>
      <vt:lpstr>Problem Statement Number: SHI25008</vt:lpstr>
      <vt:lpstr>Problem Statement Number: SHI25008</vt:lpstr>
      <vt:lpstr>Problem Statement Number: SHI25008</vt:lpstr>
      <vt:lpstr>Problem Statement Number: SHI25008</vt:lpstr>
      <vt:lpstr>Problem Statement Number: SHI25008</vt:lpstr>
      <vt:lpstr>Problem Statement Number: SHI25008</vt:lpstr>
      <vt:lpstr>Problem Statement Number: SHI25008</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Vishnu Vardhan</cp:lastModifiedBy>
  <cp:revision>45</cp:revision>
  <dcterms:modified xsi:type="dcterms:W3CDTF">2026-01-15T15:00:32Z</dcterms:modified>
</cp:coreProperties>
</file>